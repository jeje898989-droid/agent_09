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투자액</c:v>
                </c:pt>
              </c:strCache>
            </c:strRef>
          </c:tx>
          <c:dPt>
            <c:idx val="0"/>
            <c:spPr>
              <a:solidFill>
                <a:srgbClr val="FBB92F"/>
              </a:solidFill>
            </c:spPr>
          </c:dPt>
          <c:dPt>
            <c:idx val="1"/>
            <c:spPr>
              <a:solidFill>
                <a:srgbClr val="FB8567"/>
              </a:solidFill>
            </c:spPr>
          </c:dPt>
          <c:dPt>
            <c:idx val="2"/>
            <c:spPr>
              <a:solidFill>
                <a:srgbClr val="FB569B"/>
              </a:solidFill>
            </c:spPr>
          </c:dPt>
          <c:dPt>
            <c:idx val="3"/>
            <c:spPr>
              <a:solidFill>
                <a:srgbClr val="9C28B1"/>
              </a:solidFill>
            </c:spPr>
          </c:dPt>
          <c:cat>
            <c:strRef>
              <c:f>Sheet1!$A$2:$A$5</c:f>
              <c:strCache>
                <c:ptCount val="4"/>
                <c:pt idx="0">
                  <c:v>글로벌 기업 AI</c:v>
                </c:pt>
                <c:pt idx="1">
                  <c:v>미국 민간</c:v>
                </c:pt>
                <c:pt idx="2">
                  <c:v>생성형 AI</c:v>
                </c:pt>
                <c:pt idx="3">
                  <c:v>중국 민간</c:v>
                </c:pt>
              </c:strCache>
            </c:strRef>
          </c:cat>
          <c:val>
            <c:numRef>
              <c:f>Sheet1!$B$2:$B$5</c:f>
              <c:numCache>
                <c:formatCode>General</c:formatCode>
                <c:ptCount val="4"/>
                <c:pt idx="0">
                  <c:v>5817</c:v>
                </c:pt>
                <c:pt idx="1">
                  <c:v>2859</c:v>
                </c:pt>
                <c:pt idx="2">
                  <c:v>1709</c:v>
                </c:pt>
                <c:pt idx="3">
                  <c:v>124</c:v>
                </c:pt>
              </c:numCache>
            </c:numRef>
          </c:val>
        </c:ser>
        <c:dLbls>
          <c:numFmt formatCode="#,##0" sourceLinked="0"/>
          <c:txPr>
            <a:bodyPr/>
            <a:lstStyle/>
            <a:p>
              <a:pPr>
                <a:defRPr sz="18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w="12700">
            <a:solidFill>
              <a:srgbClr val="000000"/>
            </a:solidFill>
          </a:ln>
        </c:spPr>
        <c:txPr>
          <a:bodyPr/>
          <a:lstStyle/>
          <a:p>
            <a:pPr>
              <a:defRPr sz="16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600">
          <a:solidFill>
            <a:srgbClr val="000000"/>
          </a:solidFill>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2024년부터 2026년까지의 AI 발전 흐름을 기술, 산업·경제, 규제·윤리, 전망의 네 갈래로 정리해 말씀드리겠습니다. 수치는 Stanford AI Index 2026 등 공개 자료를 기반으로 한 자료조사 노트에서 가져왔습니다.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네 파트로 진행합니다. 기술 동향을 먼저 보고, 그 기술이 투자와 일자리에 어떤 영향을 주는지, 각국이 어떻게 규제하고 있는지를 본 뒤 전망으로 마무리합니다.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주목할 프런티어 모델의 90% 이상을 기업이 만들었고, 박사급 과학 문제와 수학 경시에서 인간 기준을 넘어섰습니다. 컴퓨터 사용 에이전트의 과제 성공률도 12%에서 66%로 뛰었습니다. 미·중 성능 격차는 2026년 3월 기준 2.7%로 사실상 사라졌지만, 민간 투자는 미국이 2,859억 달러로 중국의 23배입니다. 다만 IMO 금메달 모델이 아날로그 시계는 50.1%만 맞히는 '들쭉날쭉한 프런티어'가 있어, 벤치마크 점수만으로 실제 성능을 판단하기 어렵습니다.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글로벌 기업 AI 투자는 5,817억 달러로 전년 대비 130% 늘었고, 생성형 AI 투자는 약 5배인 1,709억 달러였습니다. 미국 민간 투자 2,859억 달러는 중국 124억 달러의 23배가 넘습니다. 미국은 데이터센터도 5,427개로 다른 나라의 10배 이상입니다. 막대들은 서로 포함 관계가 있으므로 합계가 아니라 규모 비교로 봐 주세요.</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3년 만에 보급률 53%에 도달해 PC나 인터넷보다 빠르게 퍼졌고, 조사 대상 조직의 88%가 AI를 씁니다. PwC에 따르면 AI 노출이 큰 산업의 생산성은 2018년 대비 34% 늘어 노출이 적은 산업(24%)을 앞섰습니다. 전체 고용 감소는 0.4% 미만으로 작지만, 신입·청년층에 영향이 집중돼 미국 22–25세 개발자 고용은 2024년 대비 약 20% 줄었습니다. 전문가와 대중의 인식 차이도 큽니다.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 AI Act는 범용 AI 제공자 의무가 2025년 8월 2일부터, 대부분의 의무와 AI Office의 집행 권한은 2026년 8월 2일부터 적용됐습니다. 한국 AI 기본법은 2024년 12월 26일 통과돼 2026년 1월 22일 시행됐으며, 산업 진흥과 기본 의무를 함께 담고 과태료는 최대 3천만 원, 최소 1년의 계도 기간을 둡니다. 한편 보고된 AI 사고는 2024년 233건에서 2025년 362건으로 늘어 규제의 필요성이 커지고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성능은 계속 빨라지지만 들쭉날쭉해 실제 환경 검증이 더 중요해졌습니다. 둘째, 에이전트가 다음 도입 물결이지만 조직의 79%가 도입 어려움을 겪습니다. 셋째, 생산성 이익은 선도 기업과 숙련 인력에 몰리고 신입층이 가장 큰 압박을 받습니다. 넷째, 데이터센터 전력 수요는 2030년 약 945TWh로 두 배가 될 전망이고, 선도 AI 칩 대부분을 TSMC가 생산하는 공급망 집중도 위험 요인입니다. 안전과 정책이 성능을 따라가지 못하는 점도 함께 기억할 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정리하면, AI는 성능과 도입 모두 빠르게 커지고 있지만 검증, 거버넌스, 혜택의 분배, 에너지라는 과제가 함께 커지고 있습니다.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verTitle"/>
          <p:cNvSpPr txBox="1"/>
          <p:nvPr/>
        </p:nvSpPr>
        <p:spPr>
          <a:xfrm>
            <a:off x="914400" y="2011680"/>
            <a:ext cx="10362895" cy="1097280"/>
          </a:xfrm>
          <a:prstGeom prst="rect">
            <a:avLst/>
          </a:prstGeom>
          <a:noFill/>
        </p:spPr>
        <p:txBody>
          <a:bodyPr wrap="square" anchor="ctr" lIns="73152" rIns="73152" tIns="36576" bIns="36576">
            <a:spAutoFit/>
          </a:bodyPr>
          <a:lstStyle/>
          <a:p>
            <a:pPr algn="ctr">
              <a:spcAft>
                <a:spcPts val="0"/>
              </a:spcAft>
            </a:pPr>
            <a:r>
              <a:rPr sz="5400" b="1">
                <a:solidFill>
                  <a:srgbClr val="000000"/>
                </a:solidFill>
                <a:latin typeface="Noto Sans KR"/>
                <a:ea typeface="Noto Sans KR"/>
                <a:cs typeface="Noto Sans KR"/>
              </a:rPr>
              <a:t>AI 발전 동향</a:t>
            </a:r>
          </a:p>
        </p:txBody>
      </p:sp>
      <p:sp>
        <p:nvSpPr>
          <p:cNvPr id="3" name="CoverSub"/>
          <p:cNvSpPr txBox="1"/>
          <p:nvPr/>
        </p:nvSpPr>
        <p:spPr>
          <a:xfrm>
            <a:off x="914400" y="3154680"/>
            <a:ext cx="10362895" cy="640080"/>
          </a:xfrm>
          <a:prstGeom prst="rect">
            <a:avLst/>
          </a:prstGeom>
          <a:noFill/>
        </p:spPr>
        <p:txBody>
          <a:bodyPr wrap="square" anchor="ctr" lIns="73152" rIns="73152" tIns="36576" bIns="36576">
            <a:spAutoFit/>
          </a:bodyPr>
          <a:lstStyle/>
          <a:p>
            <a:pPr algn="ctr">
              <a:spcAft>
                <a:spcPts val="0"/>
              </a:spcAft>
            </a:pPr>
            <a:r>
              <a:rPr sz="2600" b="1">
                <a:solidFill>
                  <a:srgbClr val="FBB92F"/>
                </a:solidFill>
                <a:latin typeface="Noto Sans KR"/>
                <a:ea typeface="Noto Sans KR"/>
                <a:cs typeface="Noto Sans KR"/>
              </a:rPr>
              <a:t>2024–2026 기술·산업·규제 핵심 정리</a:t>
            </a:r>
          </a:p>
        </p:txBody>
      </p:sp>
      <p:sp>
        <p:nvSpPr>
          <p:cNvPr id="4" name="Deco1"/>
          <p:cNvSpPr/>
          <p:nvPr/>
        </p:nvSpPr>
        <p:spPr>
          <a:xfrm>
            <a:off x="4792827" y="4114800"/>
            <a:ext cx="548640" cy="128016"/>
          </a:xfrm>
          <a:prstGeom prst="roundRect">
            <a:avLst>
              <a:gd name="adj" fmla="val 50000"/>
            </a:avLst>
          </a:prstGeom>
          <a:solidFill>
            <a:srgbClr val="FBB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co2"/>
          <p:cNvSpPr/>
          <p:nvPr/>
        </p:nvSpPr>
        <p:spPr>
          <a:xfrm>
            <a:off x="5478627" y="4114800"/>
            <a:ext cx="548640" cy="128016"/>
          </a:xfrm>
          <a:prstGeom prst="roundRect">
            <a:avLst>
              <a:gd name="adj" fmla="val 50000"/>
            </a:avLst>
          </a:prstGeom>
          <a:solidFill>
            <a:srgbClr val="FB85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co3"/>
          <p:cNvSpPr/>
          <p:nvPr/>
        </p:nvSpPr>
        <p:spPr>
          <a:xfrm>
            <a:off x="6164427" y="4114800"/>
            <a:ext cx="548640" cy="128016"/>
          </a:xfrm>
          <a:prstGeom prst="roundRect">
            <a:avLst>
              <a:gd name="adj" fmla="val 50000"/>
            </a:avLst>
          </a:prstGeom>
          <a:solidFill>
            <a:srgbClr val="FB5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o4"/>
          <p:cNvSpPr/>
          <p:nvPr/>
        </p:nvSpPr>
        <p:spPr>
          <a:xfrm>
            <a:off x="6850227" y="4114800"/>
            <a:ext cx="548640" cy="128016"/>
          </a:xfrm>
          <a:prstGeom prst="roundRect">
            <a:avLst>
              <a:gd name="adj" fmla="val 50000"/>
            </a:avLst>
          </a:prstGeom>
          <a:solidFill>
            <a:srgbClr val="9C2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verSource"/>
          <p:cNvSpPr txBox="1"/>
          <p:nvPr/>
        </p:nvSpPr>
        <p:spPr>
          <a:xfrm>
            <a:off x="914400" y="5120640"/>
            <a:ext cx="10362895" cy="411480"/>
          </a:xfrm>
          <a:prstGeom prst="rect">
            <a:avLst/>
          </a:prstGeom>
          <a:noFill/>
        </p:spPr>
        <p:txBody>
          <a:bodyPr wrap="square" anchor="t" lIns="73152" rIns="73152" tIns="36576" bIns="36576">
            <a:spAutoFit/>
          </a:bodyPr>
          <a:lstStyle/>
          <a:p>
            <a:pPr algn="ctr">
              <a:spcAft>
                <a:spcPts val="0"/>
              </a:spcAft>
            </a:pPr>
            <a:r>
              <a:rPr sz="1400" b="0">
                <a:solidFill>
                  <a:srgbClr val="000000"/>
                </a:solidFill>
                <a:latin typeface="Roboto"/>
                <a:ea typeface="Noto Sans KR"/>
                <a:cs typeface="Noto Sans KR"/>
              </a:rPr>
              <a:t>2026년 10월 · 출처: research/ai-development-research-v2.md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640080"/>
            <a:ext cx="11094415" cy="731520"/>
          </a:xfrm>
          <a:prstGeom prst="rect">
            <a:avLst/>
          </a:prstGeom>
          <a:noFill/>
        </p:spPr>
        <p:txBody>
          <a:bodyPr wrap="square" anchor="ctr" lIns="73152" rIns="73152" tIns="36576" bIns="36576">
            <a:spAutoFit/>
          </a:bodyPr>
          <a:lstStyle/>
          <a:p>
            <a:pPr algn="ctr">
              <a:spcAft>
                <a:spcPts val="0"/>
              </a:spcAft>
            </a:pPr>
            <a:r>
              <a:rPr sz="3600" b="1">
                <a:solidFill>
                  <a:srgbClr val="000000"/>
                </a:solidFill>
                <a:latin typeface="Noto Sans KR"/>
                <a:ea typeface="Noto Sans KR"/>
                <a:cs typeface="Noto Sans KR"/>
              </a:rPr>
              <a:t>발표 순서</a:t>
            </a:r>
          </a:p>
        </p:txBody>
      </p:sp>
      <p:sp>
        <p:nvSpPr>
          <p:cNvPr id="3" name="Header1"/>
          <p:cNvSpPr/>
          <p:nvPr/>
        </p:nvSpPr>
        <p:spPr>
          <a:xfrm>
            <a:off x="941832" y="1737360"/>
            <a:ext cx="2395728" cy="777240"/>
          </a:xfrm>
          <a:prstGeom prst="round2SameRect">
            <a:avLst>
              <a:gd name="adj1" fmla="val 25000"/>
              <a:gd name="adj2" fmla="val 0"/>
            </a:avLst>
          </a:prstGeom>
          <a:solidFill>
            <a:srgbClr val="FBB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erText1"/>
          <p:cNvSpPr txBox="1"/>
          <p:nvPr/>
        </p:nvSpPr>
        <p:spPr>
          <a:xfrm>
            <a:off x="941832"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PART 1</a:t>
            </a:r>
          </a:p>
        </p:txBody>
      </p:sp>
      <p:sp>
        <p:nvSpPr>
          <p:cNvPr id="5" name="Card1"/>
          <p:cNvSpPr/>
          <p:nvPr/>
        </p:nvSpPr>
        <p:spPr>
          <a:xfrm>
            <a:off x="941832"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con"/>
          <p:cNvSpPr/>
          <p:nvPr/>
        </p:nvSpPr>
        <p:spPr>
          <a:xfrm>
            <a:off x="1819655" y="2999232"/>
            <a:ext cx="640080" cy="640080"/>
          </a:xfrm>
          <a:prstGeom prst="ellipse">
            <a:avLst/>
          </a:prstGeom>
          <a:noFill/>
          <a:ln w="25400">
            <a:solidFill>
              <a:srgbClr val="FBB9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BB92F"/>
                </a:solidFill>
                <a:latin typeface="Noto Sans KR"/>
                <a:ea typeface="Noto Sans KR"/>
                <a:cs typeface="Noto Sans KR"/>
              </a:rPr>
              <a:t>1</a:t>
            </a:r>
          </a:p>
        </p:txBody>
      </p:sp>
      <p:sp>
        <p:nvSpPr>
          <p:cNvPr id="7" name="Sub1"/>
          <p:cNvSpPr txBox="1"/>
          <p:nvPr/>
        </p:nvSpPr>
        <p:spPr>
          <a:xfrm>
            <a:off x="987552"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FBB92F"/>
                </a:solidFill>
                <a:latin typeface="Noto Sans KR"/>
                <a:ea typeface="Noto Sans KR"/>
                <a:cs typeface="Noto Sans KR"/>
              </a:rPr>
              <a:t>핵심 기술</a:t>
            </a:r>
          </a:p>
        </p:txBody>
      </p:sp>
      <p:sp>
        <p:nvSpPr>
          <p:cNvPr id="8" name="Body1"/>
          <p:cNvSpPr txBox="1"/>
          <p:nvPr/>
        </p:nvSpPr>
        <p:spPr>
          <a:xfrm>
            <a:off x="987552"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모델 성능</a:t>
            </a:r>
          </a:p>
          <a:p>
            <a:pPr algn="ctr">
              <a:spcAft>
                <a:spcPts val="0"/>
              </a:spcAft>
            </a:pPr>
            <a:r>
              <a:rPr sz="1600" b="0">
                <a:solidFill>
                  <a:srgbClr val="000000"/>
                </a:solidFill>
                <a:latin typeface="Roboto"/>
                <a:ea typeface="Noto Sans KR"/>
                <a:cs typeface="Noto Sans KR"/>
              </a:rPr>
              <a:t>에이전트·미중 경쟁</a:t>
            </a:r>
          </a:p>
        </p:txBody>
      </p:sp>
      <p:sp>
        <p:nvSpPr>
          <p:cNvPr id="9" name="Header2"/>
          <p:cNvSpPr/>
          <p:nvPr/>
        </p:nvSpPr>
        <p:spPr>
          <a:xfrm>
            <a:off x="3584448" y="1737360"/>
            <a:ext cx="2395728" cy="777240"/>
          </a:xfrm>
          <a:prstGeom prst="round2SameRect">
            <a:avLst>
              <a:gd name="adj1" fmla="val 25000"/>
              <a:gd name="adj2" fmla="val 0"/>
            </a:avLst>
          </a:prstGeom>
          <a:solidFill>
            <a:srgbClr val="FB85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aderText2"/>
          <p:cNvSpPr txBox="1"/>
          <p:nvPr/>
        </p:nvSpPr>
        <p:spPr>
          <a:xfrm>
            <a:off x="3584448"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PART 2</a:t>
            </a:r>
          </a:p>
        </p:txBody>
      </p:sp>
      <p:sp>
        <p:nvSpPr>
          <p:cNvPr id="11" name="Card2"/>
          <p:cNvSpPr/>
          <p:nvPr/>
        </p:nvSpPr>
        <p:spPr>
          <a:xfrm>
            <a:off x="3584448"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con"/>
          <p:cNvSpPr/>
          <p:nvPr/>
        </p:nvSpPr>
        <p:spPr>
          <a:xfrm>
            <a:off x="4462272" y="2999232"/>
            <a:ext cx="640080" cy="640080"/>
          </a:xfrm>
          <a:prstGeom prst="ellipse">
            <a:avLst/>
          </a:prstGeom>
          <a:noFill/>
          <a:ln w="25400">
            <a:solidFill>
              <a:srgbClr val="FB856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B8567"/>
                </a:solidFill>
                <a:latin typeface="Noto Sans KR"/>
                <a:ea typeface="Noto Sans KR"/>
                <a:cs typeface="Noto Sans KR"/>
              </a:rPr>
              <a:t>2</a:t>
            </a:r>
          </a:p>
        </p:txBody>
      </p:sp>
      <p:sp>
        <p:nvSpPr>
          <p:cNvPr id="13" name="Sub2"/>
          <p:cNvSpPr txBox="1"/>
          <p:nvPr/>
        </p:nvSpPr>
        <p:spPr>
          <a:xfrm>
            <a:off x="3630168"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FB8567"/>
                </a:solidFill>
                <a:latin typeface="Noto Sans KR"/>
                <a:ea typeface="Noto Sans KR"/>
                <a:cs typeface="Noto Sans KR"/>
              </a:rPr>
              <a:t>산업·경제</a:t>
            </a:r>
          </a:p>
        </p:txBody>
      </p:sp>
      <p:sp>
        <p:nvSpPr>
          <p:cNvPr id="14" name="Body2"/>
          <p:cNvSpPr txBox="1"/>
          <p:nvPr/>
        </p:nvSpPr>
        <p:spPr>
          <a:xfrm>
            <a:off x="3630168"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투자·도입</a:t>
            </a:r>
          </a:p>
          <a:p>
            <a:pPr algn="ctr">
              <a:spcAft>
                <a:spcPts val="0"/>
              </a:spcAft>
            </a:pPr>
            <a:r>
              <a:rPr sz="1600" b="0">
                <a:solidFill>
                  <a:srgbClr val="000000"/>
                </a:solidFill>
                <a:latin typeface="Roboto"/>
                <a:ea typeface="Noto Sans KR"/>
                <a:cs typeface="Noto Sans KR"/>
              </a:rPr>
              <a:t>생산성·노동시장</a:t>
            </a:r>
          </a:p>
        </p:txBody>
      </p:sp>
      <p:sp>
        <p:nvSpPr>
          <p:cNvPr id="15" name="Header3"/>
          <p:cNvSpPr/>
          <p:nvPr/>
        </p:nvSpPr>
        <p:spPr>
          <a:xfrm>
            <a:off x="6227064" y="1737360"/>
            <a:ext cx="2395728" cy="777240"/>
          </a:xfrm>
          <a:prstGeom prst="round2SameRect">
            <a:avLst>
              <a:gd name="adj1" fmla="val 25000"/>
              <a:gd name="adj2" fmla="val 0"/>
            </a:avLst>
          </a:prstGeom>
          <a:solidFill>
            <a:srgbClr val="FB5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eaderText3"/>
          <p:cNvSpPr txBox="1"/>
          <p:nvPr/>
        </p:nvSpPr>
        <p:spPr>
          <a:xfrm>
            <a:off x="6227064"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PART 3</a:t>
            </a:r>
          </a:p>
        </p:txBody>
      </p:sp>
      <p:sp>
        <p:nvSpPr>
          <p:cNvPr id="17" name="Card3"/>
          <p:cNvSpPr/>
          <p:nvPr/>
        </p:nvSpPr>
        <p:spPr>
          <a:xfrm>
            <a:off x="6227064"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con"/>
          <p:cNvSpPr/>
          <p:nvPr/>
        </p:nvSpPr>
        <p:spPr>
          <a:xfrm>
            <a:off x="7104888" y="2999232"/>
            <a:ext cx="640080" cy="640080"/>
          </a:xfrm>
          <a:prstGeom prst="ellipse">
            <a:avLst/>
          </a:prstGeom>
          <a:noFill/>
          <a:ln w="25400">
            <a:solidFill>
              <a:srgbClr val="FB569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B569B"/>
                </a:solidFill>
                <a:latin typeface="Noto Sans KR"/>
                <a:ea typeface="Noto Sans KR"/>
                <a:cs typeface="Noto Sans KR"/>
              </a:rPr>
              <a:t>3</a:t>
            </a:r>
          </a:p>
        </p:txBody>
      </p:sp>
      <p:sp>
        <p:nvSpPr>
          <p:cNvPr id="19" name="Sub3"/>
          <p:cNvSpPr txBox="1"/>
          <p:nvPr/>
        </p:nvSpPr>
        <p:spPr>
          <a:xfrm>
            <a:off x="6272784"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FB569B"/>
                </a:solidFill>
                <a:latin typeface="Noto Sans KR"/>
                <a:ea typeface="Noto Sans KR"/>
                <a:cs typeface="Noto Sans KR"/>
              </a:rPr>
              <a:t>규제·윤리</a:t>
            </a:r>
          </a:p>
        </p:txBody>
      </p:sp>
      <p:sp>
        <p:nvSpPr>
          <p:cNvPr id="20" name="Body3"/>
          <p:cNvSpPr txBox="1"/>
          <p:nvPr/>
        </p:nvSpPr>
        <p:spPr>
          <a:xfrm>
            <a:off x="6272784"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EU AI Act</a:t>
            </a:r>
          </a:p>
          <a:p>
            <a:pPr algn="ctr">
              <a:spcAft>
                <a:spcPts val="0"/>
              </a:spcAft>
            </a:pPr>
            <a:r>
              <a:rPr sz="1600" b="0">
                <a:solidFill>
                  <a:srgbClr val="000000"/>
                </a:solidFill>
                <a:latin typeface="Roboto"/>
                <a:ea typeface="Noto Sans KR"/>
                <a:cs typeface="Noto Sans KR"/>
              </a:rPr>
              <a:t>한국 AI 기본법</a:t>
            </a:r>
          </a:p>
        </p:txBody>
      </p:sp>
      <p:sp>
        <p:nvSpPr>
          <p:cNvPr id="21" name="Header4"/>
          <p:cNvSpPr/>
          <p:nvPr/>
        </p:nvSpPr>
        <p:spPr>
          <a:xfrm>
            <a:off x="8869680" y="1737360"/>
            <a:ext cx="2395728" cy="777240"/>
          </a:xfrm>
          <a:prstGeom prst="round2SameRect">
            <a:avLst>
              <a:gd name="adj1" fmla="val 25000"/>
              <a:gd name="adj2" fmla="val 0"/>
            </a:avLst>
          </a:prstGeom>
          <a:solidFill>
            <a:srgbClr val="9C2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eaderText4"/>
          <p:cNvSpPr txBox="1"/>
          <p:nvPr/>
        </p:nvSpPr>
        <p:spPr>
          <a:xfrm>
            <a:off x="8869680"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PART 4</a:t>
            </a:r>
          </a:p>
        </p:txBody>
      </p:sp>
      <p:sp>
        <p:nvSpPr>
          <p:cNvPr id="23" name="Card4"/>
          <p:cNvSpPr/>
          <p:nvPr/>
        </p:nvSpPr>
        <p:spPr>
          <a:xfrm>
            <a:off x="8869680"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con"/>
          <p:cNvSpPr/>
          <p:nvPr/>
        </p:nvSpPr>
        <p:spPr>
          <a:xfrm>
            <a:off x="9747504" y="2999232"/>
            <a:ext cx="640080" cy="640080"/>
          </a:xfrm>
          <a:prstGeom prst="ellipse">
            <a:avLst/>
          </a:prstGeom>
          <a:noFill/>
          <a:ln w="25400">
            <a:solidFill>
              <a:srgbClr val="9C28B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9C28B1"/>
                </a:solidFill>
                <a:latin typeface="Noto Sans KR"/>
                <a:ea typeface="Noto Sans KR"/>
                <a:cs typeface="Noto Sans KR"/>
              </a:rPr>
              <a:t>4</a:t>
            </a:r>
          </a:p>
        </p:txBody>
      </p:sp>
      <p:sp>
        <p:nvSpPr>
          <p:cNvPr id="25" name="Sub4"/>
          <p:cNvSpPr txBox="1"/>
          <p:nvPr/>
        </p:nvSpPr>
        <p:spPr>
          <a:xfrm>
            <a:off x="8915400"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9C28B1"/>
                </a:solidFill>
                <a:latin typeface="Noto Sans KR"/>
                <a:ea typeface="Noto Sans KR"/>
                <a:cs typeface="Noto Sans KR"/>
              </a:rPr>
              <a:t>전망</a:t>
            </a:r>
          </a:p>
        </p:txBody>
      </p:sp>
      <p:sp>
        <p:nvSpPr>
          <p:cNvPr id="26" name="Body4"/>
          <p:cNvSpPr txBox="1"/>
          <p:nvPr/>
        </p:nvSpPr>
        <p:spPr>
          <a:xfrm>
            <a:off x="8915400"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4대 핵심 이슈</a:t>
            </a:r>
          </a:p>
          <a:p>
            <a:pPr algn="ctr">
              <a:spcAft>
                <a:spcPts val="0"/>
              </a:spcAft>
            </a:pPr>
            <a:r>
              <a:rPr sz="1600" b="0">
                <a:solidFill>
                  <a:srgbClr val="000000"/>
                </a:solidFill>
                <a:latin typeface="Roboto"/>
                <a:ea typeface="Noto Sans KR"/>
                <a:cs typeface="Noto Sans KR"/>
              </a:rPr>
              <a:t>시사점</a:t>
            </a:r>
          </a:p>
        </p:txBody>
      </p:sp>
      <p:sp>
        <p:nvSpPr>
          <p:cNvPr id="27" name="PageNo"/>
          <p:cNvSpPr txBox="1"/>
          <p:nvPr/>
        </p:nvSpPr>
        <p:spPr>
          <a:xfrm>
            <a:off x="10454335" y="6172200"/>
            <a:ext cx="1097280" cy="274320"/>
          </a:xfrm>
          <a:prstGeom prst="rect">
            <a:avLst/>
          </a:prstGeom>
          <a:noFill/>
        </p:spPr>
        <p:txBody>
          <a:bodyPr wrap="square" anchor="t" lIns="73152" rIns="73152" tIns="36576" bIns="36576">
            <a:spAutoFit/>
          </a:bodyPr>
          <a:lstStyle/>
          <a:p>
            <a:pPr algn="r">
              <a:spcAft>
                <a:spcPts val="0"/>
              </a:spcAft>
            </a:pPr>
            <a:r>
              <a:rPr sz="1400" b="0">
                <a:solidFill>
                  <a:srgbClr val="000000"/>
                </a:solidFill>
                <a:latin typeface="Roboto"/>
                <a:ea typeface="Noto Sans KR"/>
                <a:cs typeface="Noto Sans KR"/>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640080"/>
            <a:ext cx="11094415" cy="731520"/>
          </a:xfrm>
          <a:prstGeom prst="rect">
            <a:avLst/>
          </a:prstGeom>
          <a:noFill/>
        </p:spPr>
        <p:txBody>
          <a:bodyPr wrap="square" anchor="ctr" lIns="73152" rIns="73152" tIns="36576" bIns="36576">
            <a:spAutoFit/>
          </a:bodyPr>
          <a:lstStyle/>
          <a:p>
            <a:pPr algn="ctr">
              <a:spcAft>
                <a:spcPts val="0"/>
              </a:spcAft>
            </a:pPr>
            <a:r>
              <a:rPr sz="3600" b="1">
                <a:solidFill>
                  <a:srgbClr val="000000"/>
                </a:solidFill>
                <a:latin typeface="Noto Sans KR"/>
                <a:ea typeface="Noto Sans KR"/>
                <a:cs typeface="Noto Sans KR"/>
              </a:rPr>
              <a:t>핵심 기술 트렌드</a:t>
            </a:r>
          </a:p>
        </p:txBody>
      </p:sp>
      <p:sp>
        <p:nvSpPr>
          <p:cNvPr id="3" name="Header1"/>
          <p:cNvSpPr/>
          <p:nvPr/>
        </p:nvSpPr>
        <p:spPr>
          <a:xfrm>
            <a:off x="941832" y="1737360"/>
            <a:ext cx="2395728" cy="777240"/>
          </a:xfrm>
          <a:prstGeom prst="round2SameRect">
            <a:avLst>
              <a:gd name="adj1" fmla="val 25000"/>
              <a:gd name="adj2" fmla="val 0"/>
            </a:avLst>
          </a:prstGeom>
          <a:solidFill>
            <a:srgbClr val="FBB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erText1"/>
          <p:cNvSpPr txBox="1"/>
          <p:nvPr/>
        </p:nvSpPr>
        <p:spPr>
          <a:xfrm>
            <a:off x="941832"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모델 성능</a:t>
            </a:r>
          </a:p>
        </p:txBody>
      </p:sp>
      <p:sp>
        <p:nvSpPr>
          <p:cNvPr id="5" name="Card1"/>
          <p:cNvSpPr/>
          <p:nvPr/>
        </p:nvSpPr>
        <p:spPr>
          <a:xfrm>
            <a:off x="941832"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con"/>
          <p:cNvSpPr/>
          <p:nvPr/>
        </p:nvSpPr>
        <p:spPr>
          <a:xfrm>
            <a:off x="1819655" y="2999232"/>
            <a:ext cx="640080" cy="640080"/>
          </a:xfrm>
          <a:prstGeom prst="star5">
            <a:avLst/>
          </a:prstGeom>
          <a:noFill/>
          <a:ln w="25400">
            <a:solidFill>
              <a:srgbClr val="FBB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1"/>
          <p:cNvSpPr txBox="1"/>
          <p:nvPr/>
        </p:nvSpPr>
        <p:spPr>
          <a:xfrm>
            <a:off x="987552"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FBB92F"/>
                </a:solidFill>
                <a:latin typeface="Noto Sans KR"/>
                <a:ea typeface="Noto Sans KR"/>
                <a:cs typeface="Noto Sans KR"/>
              </a:rPr>
              <a:t>코딩 ~100%</a:t>
            </a:r>
          </a:p>
        </p:txBody>
      </p:sp>
      <p:sp>
        <p:nvSpPr>
          <p:cNvPr id="8" name="Body1"/>
          <p:cNvSpPr txBox="1"/>
          <p:nvPr/>
        </p:nvSpPr>
        <p:spPr>
          <a:xfrm>
            <a:off x="987552"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SWE-bench 점수</a:t>
            </a:r>
          </a:p>
          <a:p>
            <a:pPr algn="ctr">
              <a:spcAft>
                <a:spcPts val="0"/>
              </a:spcAft>
            </a:pPr>
            <a:r>
              <a:rPr sz="1600" b="0">
                <a:solidFill>
                  <a:srgbClr val="000000"/>
                </a:solidFill>
                <a:latin typeface="Roboto"/>
                <a:ea typeface="Noto Sans KR"/>
                <a:cs typeface="Noto Sans KR"/>
              </a:rPr>
              <a:t>1년 새 60%→~100%</a:t>
            </a:r>
          </a:p>
        </p:txBody>
      </p:sp>
      <p:sp>
        <p:nvSpPr>
          <p:cNvPr id="9" name="Header2"/>
          <p:cNvSpPr/>
          <p:nvPr/>
        </p:nvSpPr>
        <p:spPr>
          <a:xfrm>
            <a:off x="3584448" y="1737360"/>
            <a:ext cx="2395728" cy="777240"/>
          </a:xfrm>
          <a:prstGeom prst="round2SameRect">
            <a:avLst>
              <a:gd name="adj1" fmla="val 25000"/>
              <a:gd name="adj2" fmla="val 0"/>
            </a:avLst>
          </a:prstGeom>
          <a:solidFill>
            <a:srgbClr val="FB85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aderText2"/>
          <p:cNvSpPr txBox="1"/>
          <p:nvPr/>
        </p:nvSpPr>
        <p:spPr>
          <a:xfrm>
            <a:off x="3584448"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AI 에이전트</a:t>
            </a:r>
          </a:p>
        </p:txBody>
      </p:sp>
      <p:sp>
        <p:nvSpPr>
          <p:cNvPr id="11" name="Card2"/>
          <p:cNvSpPr/>
          <p:nvPr/>
        </p:nvSpPr>
        <p:spPr>
          <a:xfrm>
            <a:off x="3584448"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con"/>
          <p:cNvSpPr/>
          <p:nvPr/>
        </p:nvSpPr>
        <p:spPr>
          <a:xfrm>
            <a:off x="4462272" y="2999232"/>
            <a:ext cx="640080" cy="640080"/>
          </a:xfrm>
          <a:prstGeom prst="gear6">
            <a:avLst/>
          </a:prstGeom>
          <a:noFill/>
          <a:ln w="25400">
            <a:solidFill>
              <a:srgbClr val="FB85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ub2"/>
          <p:cNvSpPr txBox="1"/>
          <p:nvPr/>
        </p:nvSpPr>
        <p:spPr>
          <a:xfrm>
            <a:off x="3630168"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FB8567"/>
                </a:solidFill>
                <a:latin typeface="Noto Sans KR"/>
                <a:ea typeface="Noto Sans KR"/>
                <a:cs typeface="Noto Sans KR"/>
              </a:rPr>
              <a:t>성공률 66%</a:t>
            </a:r>
          </a:p>
        </p:txBody>
      </p:sp>
      <p:sp>
        <p:nvSpPr>
          <p:cNvPr id="14" name="Body2"/>
          <p:cNvSpPr txBox="1"/>
          <p:nvPr/>
        </p:nvSpPr>
        <p:spPr>
          <a:xfrm>
            <a:off x="3630168"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OSWorld 과제</a:t>
            </a:r>
          </a:p>
          <a:p>
            <a:pPr algn="ctr">
              <a:spcAft>
                <a:spcPts val="0"/>
              </a:spcAft>
            </a:pPr>
            <a:r>
              <a:rPr sz="1600" b="0">
                <a:solidFill>
                  <a:srgbClr val="000000"/>
                </a:solidFill>
                <a:latin typeface="Roboto"/>
                <a:ea typeface="Noto Sans KR"/>
                <a:cs typeface="Noto Sans KR"/>
              </a:rPr>
              <a:t>12% → 66%로 상승</a:t>
            </a:r>
          </a:p>
        </p:txBody>
      </p:sp>
      <p:sp>
        <p:nvSpPr>
          <p:cNvPr id="15" name="Header3"/>
          <p:cNvSpPr/>
          <p:nvPr/>
        </p:nvSpPr>
        <p:spPr>
          <a:xfrm>
            <a:off x="6227064" y="1737360"/>
            <a:ext cx="2395728" cy="777240"/>
          </a:xfrm>
          <a:prstGeom prst="round2SameRect">
            <a:avLst>
              <a:gd name="adj1" fmla="val 25000"/>
              <a:gd name="adj2" fmla="val 0"/>
            </a:avLst>
          </a:prstGeom>
          <a:solidFill>
            <a:srgbClr val="FB5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eaderText3"/>
          <p:cNvSpPr txBox="1"/>
          <p:nvPr/>
        </p:nvSpPr>
        <p:spPr>
          <a:xfrm>
            <a:off x="6227064"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미·중 경쟁</a:t>
            </a:r>
          </a:p>
        </p:txBody>
      </p:sp>
      <p:sp>
        <p:nvSpPr>
          <p:cNvPr id="17" name="Card3"/>
          <p:cNvSpPr/>
          <p:nvPr/>
        </p:nvSpPr>
        <p:spPr>
          <a:xfrm>
            <a:off x="6227064"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con"/>
          <p:cNvSpPr/>
          <p:nvPr/>
        </p:nvSpPr>
        <p:spPr>
          <a:xfrm>
            <a:off x="6967728" y="3090672"/>
            <a:ext cx="914400" cy="457200"/>
          </a:xfrm>
          <a:prstGeom prst="leftRightArrow">
            <a:avLst/>
          </a:prstGeom>
          <a:noFill/>
          <a:ln w="25400">
            <a:solidFill>
              <a:srgbClr val="FB56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ub3"/>
          <p:cNvSpPr txBox="1"/>
          <p:nvPr/>
        </p:nvSpPr>
        <p:spPr>
          <a:xfrm>
            <a:off x="6272784"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FB569B"/>
                </a:solidFill>
                <a:latin typeface="Noto Sans KR"/>
                <a:ea typeface="Noto Sans KR"/>
                <a:cs typeface="Noto Sans KR"/>
              </a:rPr>
              <a:t>격차 2.7%</a:t>
            </a:r>
          </a:p>
        </p:txBody>
      </p:sp>
      <p:sp>
        <p:nvSpPr>
          <p:cNvPr id="20" name="Body3"/>
          <p:cNvSpPr txBox="1"/>
          <p:nvPr/>
        </p:nvSpPr>
        <p:spPr>
          <a:xfrm>
            <a:off x="6272784"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성능은 사실상 대등</a:t>
            </a:r>
          </a:p>
          <a:p>
            <a:pPr algn="ctr">
              <a:spcAft>
                <a:spcPts val="0"/>
              </a:spcAft>
            </a:pPr>
            <a:r>
              <a:rPr sz="1600" b="0">
                <a:solidFill>
                  <a:srgbClr val="000000"/>
                </a:solidFill>
                <a:latin typeface="Roboto"/>
                <a:ea typeface="Noto Sans KR"/>
                <a:cs typeface="Noto Sans KR"/>
              </a:rPr>
              <a:t>투자는 미국이 23배</a:t>
            </a:r>
          </a:p>
        </p:txBody>
      </p:sp>
      <p:sp>
        <p:nvSpPr>
          <p:cNvPr id="21" name="Header4"/>
          <p:cNvSpPr/>
          <p:nvPr/>
        </p:nvSpPr>
        <p:spPr>
          <a:xfrm>
            <a:off x="8869680" y="1737360"/>
            <a:ext cx="2395728" cy="777240"/>
          </a:xfrm>
          <a:prstGeom prst="round2SameRect">
            <a:avLst>
              <a:gd name="adj1" fmla="val 25000"/>
              <a:gd name="adj2" fmla="val 0"/>
            </a:avLst>
          </a:prstGeom>
          <a:solidFill>
            <a:srgbClr val="9C2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eaderText4"/>
          <p:cNvSpPr txBox="1"/>
          <p:nvPr/>
        </p:nvSpPr>
        <p:spPr>
          <a:xfrm>
            <a:off x="8869680"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성능 편차</a:t>
            </a:r>
          </a:p>
        </p:txBody>
      </p:sp>
      <p:sp>
        <p:nvSpPr>
          <p:cNvPr id="23" name="Card4"/>
          <p:cNvSpPr/>
          <p:nvPr/>
        </p:nvSpPr>
        <p:spPr>
          <a:xfrm>
            <a:off x="8869680"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con"/>
          <p:cNvSpPr/>
          <p:nvPr/>
        </p:nvSpPr>
        <p:spPr>
          <a:xfrm>
            <a:off x="9747504" y="2999232"/>
            <a:ext cx="640080" cy="640080"/>
          </a:xfrm>
          <a:prstGeom prst="lightningBolt">
            <a:avLst/>
          </a:prstGeom>
          <a:noFill/>
          <a:ln w="25400">
            <a:solidFill>
              <a:srgbClr val="9C28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ub4"/>
          <p:cNvSpPr txBox="1"/>
          <p:nvPr/>
        </p:nvSpPr>
        <p:spPr>
          <a:xfrm>
            <a:off x="8915400"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9C28B1"/>
                </a:solidFill>
                <a:latin typeface="Noto Sans KR"/>
                <a:ea typeface="Noto Sans KR"/>
                <a:cs typeface="Noto Sans KR"/>
              </a:rPr>
              <a:t>시계 50.1%</a:t>
            </a:r>
          </a:p>
        </p:txBody>
      </p:sp>
      <p:sp>
        <p:nvSpPr>
          <p:cNvPr id="26" name="Body4"/>
          <p:cNvSpPr txBox="1"/>
          <p:nvPr/>
        </p:nvSpPr>
        <p:spPr>
          <a:xfrm>
            <a:off x="8915400"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IMO 금메달 모델도</a:t>
            </a:r>
          </a:p>
          <a:p>
            <a:pPr algn="ctr">
              <a:spcAft>
                <a:spcPts val="0"/>
              </a:spcAft>
            </a:pPr>
            <a:r>
              <a:rPr sz="1600" b="0">
                <a:solidFill>
                  <a:srgbClr val="000000"/>
                </a:solidFill>
                <a:latin typeface="Roboto"/>
                <a:ea typeface="Noto Sans KR"/>
                <a:cs typeface="Noto Sans KR"/>
              </a:rPr>
              <a:t>시계 읽기는 절반만</a:t>
            </a:r>
          </a:p>
        </p:txBody>
      </p:sp>
      <p:sp>
        <p:nvSpPr>
          <p:cNvPr id="27" name="PageNo"/>
          <p:cNvSpPr txBox="1"/>
          <p:nvPr/>
        </p:nvSpPr>
        <p:spPr>
          <a:xfrm>
            <a:off x="10454335" y="6172200"/>
            <a:ext cx="1097280" cy="274320"/>
          </a:xfrm>
          <a:prstGeom prst="rect">
            <a:avLst/>
          </a:prstGeom>
          <a:noFill/>
        </p:spPr>
        <p:txBody>
          <a:bodyPr wrap="square" anchor="t" lIns="73152" rIns="73152" tIns="36576" bIns="36576">
            <a:spAutoFit/>
          </a:bodyPr>
          <a:lstStyle/>
          <a:p>
            <a:pPr algn="r">
              <a:spcAft>
                <a:spcPts val="0"/>
              </a:spcAft>
            </a:pPr>
            <a:r>
              <a:rPr sz="1400" b="0">
                <a:solidFill>
                  <a:srgbClr val="000000"/>
                </a:solidFill>
                <a:latin typeface="Roboto"/>
                <a:ea typeface="Noto Sans KR"/>
                <a:cs typeface="Noto Sans KR"/>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640080"/>
            <a:ext cx="11094415" cy="731520"/>
          </a:xfrm>
          <a:prstGeom prst="rect">
            <a:avLst/>
          </a:prstGeom>
          <a:noFill/>
        </p:spPr>
        <p:txBody>
          <a:bodyPr wrap="square" anchor="ctr" lIns="73152" rIns="73152" tIns="36576" bIns="36576">
            <a:spAutoFit/>
          </a:bodyPr>
          <a:lstStyle/>
          <a:p>
            <a:pPr algn="ctr">
              <a:spcAft>
                <a:spcPts val="0"/>
              </a:spcAft>
            </a:pPr>
            <a:r>
              <a:rPr sz="3600" b="1">
                <a:solidFill>
                  <a:srgbClr val="000000"/>
                </a:solidFill>
                <a:latin typeface="Noto Sans KR"/>
                <a:ea typeface="Noto Sans KR"/>
                <a:cs typeface="Noto Sans KR"/>
              </a:rPr>
              <a:t>AI 투자 규모 (2025년, 억 달러)</a:t>
            </a:r>
          </a:p>
        </p:txBody>
      </p:sp>
      <p:graphicFrame>
        <p:nvGraphicFramePr>
          <p:cNvPr id="3" name="Chart"/>
          <p:cNvGraphicFramePr>
            <a:graphicFrameLocks noGrp="1"/>
          </p:cNvGraphicFramePr>
          <p:nvPr/>
        </p:nvGraphicFramePr>
        <p:xfrm>
          <a:off x="1371600" y="1645920"/>
          <a:ext cx="9445752" cy="4114800"/>
        </p:xfrm>
        <a:graphic>
          <a:graphicData uri="http://schemas.openxmlformats.org/drawingml/2006/chart">
            <c:chart xmlns:c="http://schemas.openxmlformats.org/drawingml/2006/chart" r:id="rId2"/>
          </a:graphicData>
        </a:graphic>
      </p:graphicFrame>
      <p:sp>
        <p:nvSpPr>
          <p:cNvPr id="4" name="ChartSource"/>
          <p:cNvSpPr txBox="1"/>
          <p:nvPr/>
        </p:nvSpPr>
        <p:spPr>
          <a:xfrm>
            <a:off x="1371600" y="5806440"/>
            <a:ext cx="6858000" cy="365760"/>
          </a:xfrm>
          <a:prstGeom prst="rect">
            <a:avLst/>
          </a:prstGeom>
          <a:noFill/>
        </p:spPr>
        <p:txBody>
          <a:bodyPr wrap="square" anchor="t" lIns="73152" rIns="73152" tIns="36576" bIns="36576">
            <a:spAutoFit/>
          </a:bodyPr>
          <a:lstStyle/>
          <a:p>
            <a:pPr algn="l">
              <a:spcAft>
                <a:spcPts val="0"/>
              </a:spcAft>
            </a:pPr>
            <a:r>
              <a:rPr sz="1400" b="0">
                <a:solidFill>
                  <a:srgbClr val="000000"/>
                </a:solidFill>
                <a:latin typeface="Roboto"/>
                <a:ea typeface="Noto Sans KR"/>
                <a:cs typeface="Noto Sans KR"/>
              </a:rPr>
              <a:t>출처: Stanford HAI, AI Index 2026</a:t>
            </a:r>
          </a:p>
        </p:txBody>
      </p:sp>
      <p:sp>
        <p:nvSpPr>
          <p:cNvPr id="5" name="PageNo"/>
          <p:cNvSpPr txBox="1"/>
          <p:nvPr/>
        </p:nvSpPr>
        <p:spPr>
          <a:xfrm>
            <a:off x="10454335" y="6172200"/>
            <a:ext cx="1097280" cy="274320"/>
          </a:xfrm>
          <a:prstGeom prst="rect">
            <a:avLst/>
          </a:prstGeom>
          <a:noFill/>
        </p:spPr>
        <p:txBody>
          <a:bodyPr wrap="square" anchor="t" lIns="73152" rIns="73152" tIns="36576" bIns="36576">
            <a:spAutoFit/>
          </a:bodyPr>
          <a:lstStyle/>
          <a:p>
            <a:pPr algn="r">
              <a:spcAft>
                <a:spcPts val="0"/>
              </a:spcAft>
            </a:pPr>
            <a:r>
              <a:rPr sz="1400" b="0">
                <a:solidFill>
                  <a:srgbClr val="000000"/>
                </a:solidFill>
                <a:latin typeface="Roboto"/>
                <a:ea typeface="Noto Sans KR"/>
                <a:cs typeface="Noto Sans KR"/>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640080"/>
            <a:ext cx="11094415" cy="731520"/>
          </a:xfrm>
          <a:prstGeom prst="rect">
            <a:avLst/>
          </a:prstGeom>
          <a:noFill/>
        </p:spPr>
        <p:txBody>
          <a:bodyPr wrap="square" anchor="ctr" lIns="73152" rIns="73152" tIns="36576" bIns="36576">
            <a:spAutoFit/>
          </a:bodyPr>
          <a:lstStyle/>
          <a:p>
            <a:pPr algn="ctr">
              <a:spcAft>
                <a:spcPts val="0"/>
              </a:spcAft>
            </a:pPr>
            <a:r>
              <a:rPr sz="3600" b="1">
                <a:solidFill>
                  <a:srgbClr val="000000"/>
                </a:solidFill>
                <a:latin typeface="Noto Sans KR"/>
                <a:ea typeface="Noto Sans KR"/>
                <a:cs typeface="Noto Sans KR"/>
              </a:rPr>
              <a:t>생산성·노동시장 영향</a:t>
            </a:r>
          </a:p>
        </p:txBody>
      </p:sp>
      <p:sp>
        <p:nvSpPr>
          <p:cNvPr id="3" name="BulletCard"/>
          <p:cNvSpPr/>
          <p:nvPr/>
        </p:nvSpPr>
        <p:spPr>
          <a:xfrm>
            <a:off x="914400" y="1737360"/>
            <a:ext cx="10362895" cy="4160520"/>
          </a:xfrm>
          <a:prstGeom prst="roundRect">
            <a:avLst>
              <a:gd name="adj" fmla="val 2197"/>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ccentBar"/>
          <p:cNvSpPr/>
          <p:nvPr/>
        </p:nvSpPr>
        <p:spPr>
          <a:xfrm>
            <a:off x="1051560" y="2011679"/>
            <a:ext cx="109728" cy="3611879"/>
          </a:xfrm>
          <a:prstGeom prst="rect">
            <a:avLst/>
          </a:prstGeom>
          <a:solidFill>
            <a:srgbClr val="FB85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ullets"/>
          <p:cNvSpPr txBox="1"/>
          <p:nvPr/>
        </p:nvSpPr>
        <p:spPr>
          <a:xfrm>
            <a:off x="1417320" y="2011679"/>
            <a:ext cx="9585655" cy="3611879"/>
          </a:xfrm>
          <a:prstGeom prst="rect">
            <a:avLst/>
          </a:prstGeom>
          <a:noFill/>
        </p:spPr>
        <p:txBody>
          <a:bodyPr wrap="square" anchor="ctr" lIns="73152" rIns="73152" tIns="36576" bIns="36576">
            <a:spAutoFit/>
          </a:bodyPr>
          <a:lstStyle/>
          <a:p>
            <a:pPr algn="l">
              <a:spcAft>
                <a:spcPts val="1000"/>
              </a:spcAft>
            </a:pPr>
            <a:r>
              <a:rPr sz="2000" b="0">
                <a:solidFill>
                  <a:srgbClr val="000000"/>
                </a:solidFill>
                <a:latin typeface="Roboto"/>
                <a:ea typeface="Noto Sans KR"/>
                <a:cs typeface="Noto Sans KR"/>
              </a:rPr>
              <a:t>• 생성형 AI 보급률 53%: PC·인터넷보다 빠른 확산</a:t>
            </a:r>
          </a:p>
          <a:p>
            <a:pPr algn="l">
              <a:spcAft>
                <a:spcPts val="1000"/>
              </a:spcAft>
            </a:pPr>
            <a:r>
              <a:rPr sz="2000" b="0">
                <a:solidFill>
                  <a:srgbClr val="000000"/>
                </a:solidFill>
                <a:latin typeface="Roboto"/>
                <a:ea typeface="Noto Sans KR"/>
                <a:cs typeface="Noto Sans KR"/>
              </a:rPr>
              <a:t>• AI 노출 산업 생산성 +34% (비노출 산업 +24%)</a:t>
            </a:r>
          </a:p>
          <a:p>
            <a:pPr algn="l">
              <a:spcAft>
                <a:spcPts val="1000"/>
              </a:spcAft>
            </a:pPr>
            <a:r>
              <a:rPr sz="2000" b="0">
                <a:solidFill>
                  <a:srgbClr val="000000"/>
                </a:solidFill>
                <a:latin typeface="Roboto"/>
                <a:ea typeface="Noto Sans KR"/>
                <a:cs typeface="Noto Sans KR"/>
              </a:rPr>
              <a:t>• AI 역량 보유자 임금 프리미엄 62%</a:t>
            </a:r>
          </a:p>
          <a:p>
            <a:pPr algn="l">
              <a:spcAft>
                <a:spcPts val="1000"/>
              </a:spcAft>
            </a:pPr>
            <a:r>
              <a:rPr sz="2000" b="0">
                <a:solidFill>
                  <a:srgbClr val="000000"/>
                </a:solidFill>
                <a:latin typeface="Roboto"/>
                <a:ea typeface="Noto Sans KR"/>
                <a:cs typeface="Noto Sans KR"/>
              </a:rPr>
              <a:t>• 전체 고용 감소 효과는 0.4% 미만으로 제한적</a:t>
            </a:r>
          </a:p>
          <a:p>
            <a:pPr algn="l">
              <a:spcAft>
                <a:spcPts val="1000"/>
              </a:spcAft>
            </a:pPr>
            <a:r>
              <a:rPr sz="2000" b="0">
                <a:solidFill>
                  <a:srgbClr val="000000"/>
                </a:solidFill>
                <a:latin typeface="Roboto"/>
                <a:ea typeface="Noto Sans KR"/>
                <a:cs typeface="Noto Sans KR"/>
              </a:rPr>
              <a:t>• 미국 22–25세 개발자 고용은 약 20% 감소</a:t>
            </a:r>
          </a:p>
          <a:p>
            <a:pPr algn="l">
              <a:spcAft>
                <a:spcPts val="1000"/>
              </a:spcAft>
            </a:pPr>
            <a:r>
              <a:rPr sz="2000" b="0">
                <a:solidFill>
                  <a:srgbClr val="000000"/>
                </a:solidFill>
                <a:latin typeface="Roboto"/>
                <a:ea typeface="Noto Sans KR"/>
                <a:cs typeface="Noto Sans KR"/>
              </a:rPr>
              <a:t>• 일자리 긍정 전망: 전문가 73% vs 대중 23%</a:t>
            </a:r>
          </a:p>
        </p:txBody>
      </p:sp>
      <p:sp>
        <p:nvSpPr>
          <p:cNvPr id="6" name="PageNo"/>
          <p:cNvSpPr txBox="1"/>
          <p:nvPr/>
        </p:nvSpPr>
        <p:spPr>
          <a:xfrm>
            <a:off x="10454335" y="6172200"/>
            <a:ext cx="1097280" cy="274320"/>
          </a:xfrm>
          <a:prstGeom prst="rect">
            <a:avLst/>
          </a:prstGeom>
          <a:noFill/>
        </p:spPr>
        <p:txBody>
          <a:bodyPr wrap="square" anchor="t" lIns="73152" rIns="73152" tIns="36576" bIns="36576">
            <a:spAutoFit/>
          </a:bodyPr>
          <a:lstStyle/>
          <a:p>
            <a:pPr algn="r">
              <a:spcAft>
                <a:spcPts val="0"/>
              </a:spcAft>
            </a:pPr>
            <a:r>
              <a:rPr sz="1400" b="0">
                <a:solidFill>
                  <a:srgbClr val="000000"/>
                </a:solidFill>
                <a:latin typeface="Roboto"/>
                <a:ea typeface="Noto Sans KR"/>
                <a:cs typeface="Noto Sans KR"/>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640080"/>
            <a:ext cx="11094415" cy="731520"/>
          </a:xfrm>
          <a:prstGeom prst="rect">
            <a:avLst/>
          </a:prstGeom>
          <a:noFill/>
        </p:spPr>
        <p:txBody>
          <a:bodyPr wrap="square" anchor="ctr" lIns="73152" rIns="73152" tIns="36576" bIns="36576">
            <a:spAutoFit/>
          </a:bodyPr>
          <a:lstStyle/>
          <a:p>
            <a:pPr algn="ctr">
              <a:spcAft>
                <a:spcPts val="0"/>
              </a:spcAft>
            </a:pPr>
            <a:r>
              <a:rPr sz="3600" b="1">
                <a:solidFill>
                  <a:srgbClr val="000000"/>
                </a:solidFill>
                <a:latin typeface="Noto Sans KR"/>
                <a:ea typeface="Noto Sans KR"/>
                <a:cs typeface="Noto Sans KR"/>
              </a:rPr>
              <a:t>AI 규제 비교: EU vs 한국</a:t>
            </a:r>
          </a:p>
        </p:txBody>
      </p:sp>
      <p:graphicFrame>
        <p:nvGraphicFramePr>
          <p:cNvPr id="3" name="Table"/>
          <p:cNvGraphicFramePr>
            <a:graphicFrameLocks noGrp="1"/>
          </p:cNvGraphicFramePr>
          <p:nvPr/>
        </p:nvGraphicFramePr>
        <p:xfrm>
          <a:off x="914400" y="1737360"/>
          <a:ext cx="10360152" cy="3429000"/>
        </p:xfrm>
        <a:graphic>
          <a:graphicData uri="http://schemas.openxmlformats.org/drawingml/2006/table">
            <a:tbl>
              <a:tblPr>
                <a:tableStyleId>{5C22544A-7EE6-4342-B048-85BDC9FD1C3A}</a:tableStyleId>
              </a:tblPr>
              <a:tblGrid>
                <a:gridCol w="2130552"/>
                <a:gridCol w="4114800"/>
                <a:gridCol w="4114800"/>
              </a:tblGrid>
              <a:tr h="685800">
                <a:tc>
                  <a:txBody>
                    <a:bodyPr wrap="square"/>
                    <a:lstStyle/>
                    <a:p>
                      <a:pPr algn="ctr"/>
                      <a:r>
                        <a:rPr sz="2200" b="1">
                          <a:solidFill>
                            <a:srgbClr val="FFFFFF"/>
                          </a:solidFill>
                          <a:latin typeface="Noto Sans KR"/>
                          <a:ea typeface="Noto Sans KR"/>
                          <a:cs typeface="Noto Sans KR"/>
                        </a:rPr>
                        <a:t>구분</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BB92F"/>
                    </a:solidFill>
                  </a:tcPr>
                </a:tc>
                <a:tc>
                  <a:txBody>
                    <a:bodyPr wrap="square"/>
                    <a:lstStyle/>
                    <a:p>
                      <a:pPr algn="ctr"/>
                      <a:r>
                        <a:rPr sz="2200" b="1">
                          <a:solidFill>
                            <a:srgbClr val="FFFFFF"/>
                          </a:solidFill>
                          <a:latin typeface="Noto Sans KR"/>
                          <a:ea typeface="Noto Sans KR"/>
                          <a:cs typeface="Noto Sans KR"/>
                        </a:rPr>
                        <a:t>EU AI Act</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B8567"/>
                    </a:solidFill>
                  </a:tcPr>
                </a:tc>
                <a:tc>
                  <a:txBody>
                    <a:bodyPr wrap="square"/>
                    <a:lstStyle/>
                    <a:p>
                      <a:pPr algn="ctr"/>
                      <a:r>
                        <a:rPr sz="2200" b="1">
                          <a:solidFill>
                            <a:srgbClr val="FFFFFF"/>
                          </a:solidFill>
                          <a:latin typeface="Noto Sans KR"/>
                          <a:ea typeface="Noto Sans KR"/>
                          <a:cs typeface="Noto Sans KR"/>
                        </a:rPr>
                        <a:t>한국 AI 기본법</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B569B"/>
                    </a:solidFill>
                  </a:tcPr>
                </a:tc>
              </a:tr>
              <a:tr h="685800">
                <a:tc>
                  <a:txBody>
                    <a:bodyPr wrap="square"/>
                    <a:lstStyle/>
                    <a:p>
                      <a:pPr algn="ctr"/>
                      <a:r>
                        <a:rPr sz="1800" b="1">
                          <a:solidFill>
                            <a:srgbClr val="000000"/>
                          </a:solidFill>
                          <a:latin typeface="Roboto"/>
                          <a:ea typeface="Noto Sans KR"/>
                          <a:cs typeface="Noto Sans KR"/>
                        </a:rPr>
                        <a:t>시행</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c>
                  <a:txBody>
                    <a:bodyPr wrap="square"/>
                    <a:lstStyle/>
                    <a:p>
                      <a:pPr algn="ctr"/>
                      <a:r>
                        <a:rPr sz="1800" b="0">
                          <a:solidFill>
                            <a:srgbClr val="000000"/>
                          </a:solidFill>
                          <a:latin typeface="Roboto"/>
                          <a:ea typeface="Noto Sans KR"/>
                          <a:cs typeface="Noto Sans KR"/>
                        </a:rPr>
                        <a:t>2026.8.2 전면 적용</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c>
                  <a:txBody>
                    <a:bodyPr wrap="square"/>
                    <a:lstStyle/>
                    <a:p>
                      <a:pPr algn="ctr"/>
                      <a:r>
                        <a:rPr sz="1800" b="0">
                          <a:solidFill>
                            <a:srgbClr val="000000"/>
                          </a:solidFill>
                          <a:latin typeface="Roboto"/>
                          <a:ea typeface="Noto Sans KR"/>
                          <a:cs typeface="Noto Sans KR"/>
                        </a:rPr>
                        <a:t>2026.1.22 시행</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r>
              <a:tr h="685800">
                <a:tc>
                  <a:txBody>
                    <a:bodyPr wrap="square"/>
                    <a:lstStyle/>
                    <a:p>
                      <a:pPr algn="ctr"/>
                      <a:r>
                        <a:rPr sz="1800" b="1">
                          <a:solidFill>
                            <a:srgbClr val="000000"/>
                          </a:solidFill>
                          <a:latin typeface="Roboto"/>
                          <a:ea typeface="Noto Sans KR"/>
                          <a:cs typeface="Noto Sans KR"/>
                        </a:rPr>
                        <a:t>대상</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c>
                  <a:txBody>
                    <a:bodyPr wrap="square"/>
                    <a:lstStyle/>
                    <a:p>
                      <a:pPr algn="ctr"/>
                      <a:r>
                        <a:rPr sz="1800" b="0">
                          <a:solidFill>
                            <a:srgbClr val="000000"/>
                          </a:solidFill>
                          <a:latin typeface="Roboto"/>
                          <a:ea typeface="Noto Sans KR"/>
                          <a:cs typeface="Noto Sans KR"/>
                        </a:rPr>
                        <a:t>범용 AI(GPAI) 제공자</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c>
                  <a:txBody>
                    <a:bodyPr wrap="square"/>
                    <a:lstStyle/>
                    <a:p>
                      <a:pPr algn="ctr"/>
                      <a:r>
                        <a:rPr sz="1800" b="0">
                          <a:solidFill>
                            <a:srgbClr val="000000"/>
                          </a:solidFill>
                          <a:latin typeface="Roboto"/>
                          <a:ea typeface="Noto Sans KR"/>
                          <a:cs typeface="Noto Sans KR"/>
                        </a:rPr>
                        <a:t>고영향·생성형 AI</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r>
              <a:tr h="685800">
                <a:tc>
                  <a:txBody>
                    <a:bodyPr wrap="square"/>
                    <a:lstStyle/>
                    <a:p>
                      <a:pPr algn="ctr"/>
                      <a:r>
                        <a:rPr sz="1800" b="1">
                          <a:solidFill>
                            <a:srgbClr val="000000"/>
                          </a:solidFill>
                          <a:latin typeface="Roboto"/>
                          <a:ea typeface="Noto Sans KR"/>
                          <a:cs typeface="Noto Sans KR"/>
                        </a:rPr>
                        <a:t>핵심 의무</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c>
                  <a:txBody>
                    <a:bodyPr wrap="square"/>
                    <a:lstStyle/>
                    <a:p>
                      <a:pPr algn="ctr"/>
                      <a:r>
                        <a:rPr sz="1800" b="0">
                          <a:solidFill>
                            <a:srgbClr val="000000"/>
                          </a:solidFill>
                          <a:latin typeface="Roboto"/>
                          <a:ea typeface="Noto Sans KR"/>
                          <a:cs typeface="Noto Sans KR"/>
                        </a:rPr>
                        <a:t>기술문서·학습데이터 요약</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c>
                  <a:txBody>
                    <a:bodyPr wrap="square"/>
                    <a:lstStyle/>
                    <a:p>
                      <a:pPr algn="ctr"/>
                      <a:r>
                        <a:rPr sz="1800" b="0">
                          <a:solidFill>
                            <a:srgbClr val="000000"/>
                          </a:solidFill>
                          <a:latin typeface="Roboto"/>
                          <a:ea typeface="Noto Sans KR"/>
                          <a:cs typeface="Noto Sans KR"/>
                        </a:rPr>
                        <a:t>AI 생성물 고지·영향평가</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r>
              <a:tr h="685800">
                <a:tc>
                  <a:txBody>
                    <a:bodyPr wrap="square"/>
                    <a:lstStyle/>
                    <a:p>
                      <a:pPr algn="ctr"/>
                      <a:r>
                        <a:rPr sz="1800" b="1">
                          <a:solidFill>
                            <a:srgbClr val="000000"/>
                          </a:solidFill>
                          <a:latin typeface="Roboto"/>
                          <a:ea typeface="Noto Sans KR"/>
                          <a:cs typeface="Noto Sans KR"/>
                        </a:rPr>
                        <a:t>집행</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c>
                  <a:txBody>
                    <a:bodyPr wrap="square"/>
                    <a:lstStyle/>
                    <a:p>
                      <a:pPr algn="ctr"/>
                      <a:r>
                        <a:rPr sz="1800" b="0">
                          <a:solidFill>
                            <a:srgbClr val="000000"/>
                          </a:solidFill>
                          <a:latin typeface="Roboto"/>
                          <a:ea typeface="Noto Sans KR"/>
                          <a:cs typeface="Noto Sans KR"/>
                        </a:rPr>
                        <a:t>AI Office 집행 권한</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c>
                  <a:txBody>
                    <a:bodyPr wrap="square"/>
                    <a:lstStyle/>
                    <a:p>
                      <a:pPr algn="ctr"/>
                      <a:r>
                        <a:rPr sz="1800" b="0">
                          <a:solidFill>
                            <a:srgbClr val="000000"/>
                          </a:solidFill>
                          <a:latin typeface="Roboto"/>
                          <a:ea typeface="Noto Sans KR"/>
                          <a:cs typeface="Noto Sans KR"/>
                        </a:rPr>
                        <a:t>과태료 최대 3천만 원</a:t>
                      </a:r>
                    </a:p>
                  </a:txBody>
                  <a:tcPr anchor="ctr">
                    <a:lnL w="9525" cmpd="sng">
                      <a:solidFill>
                        <a:srgbClr val="000000"/>
                      </a:solidFill>
                    </a:lnL>
                    <a:lnR w="9525" cmpd="sng">
                      <a:solidFill>
                        <a:srgbClr val="000000"/>
                      </a:solidFill>
                    </a:lnR>
                    <a:lnT w="9525" cmpd="sng">
                      <a:solidFill>
                        <a:srgbClr val="000000"/>
                      </a:solidFill>
                    </a:lnT>
                    <a:lnB w="9525" cmpd="sng">
                      <a:solidFill>
                        <a:srgbClr val="000000"/>
                      </a:solidFill>
                    </a:lnB>
                    <a:solidFill>
                      <a:srgbClr val="FFFFFF"/>
                    </a:solidFill>
                  </a:tcPr>
                </a:tc>
              </a:tr>
            </a:tbl>
          </a:graphicData>
        </a:graphic>
      </p:graphicFrame>
      <p:sp>
        <p:nvSpPr>
          <p:cNvPr id="4" name="PageNo"/>
          <p:cNvSpPr txBox="1"/>
          <p:nvPr/>
        </p:nvSpPr>
        <p:spPr>
          <a:xfrm>
            <a:off x="10454335" y="6172200"/>
            <a:ext cx="1097280" cy="274320"/>
          </a:xfrm>
          <a:prstGeom prst="rect">
            <a:avLst/>
          </a:prstGeom>
          <a:noFill/>
        </p:spPr>
        <p:txBody>
          <a:bodyPr wrap="square" anchor="t" lIns="73152" rIns="73152" tIns="36576" bIns="36576">
            <a:spAutoFit/>
          </a:bodyPr>
          <a:lstStyle/>
          <a:p>
            <a:pPr algn="r">
              <a:spcAft>
                <a:spcPts val="0"/>
              </a:spcAft>
            </a:pPr>
            <a:r>
              <a:rPr sz="1400" b="0">
                <a:solidFill>
                  <a:srgbClr val="000000"/>
                </a:solidFill>
                <a:latin typeface="Roboto"/>
                <a:ea typeface="Noto Sans KR"/>
                <a:cs typeface="Noto Sans KR"/>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640080"/>
            <a:ext cx="11094415" cy="731520"/>
          </a:xfrm>
          <a:prstGeom prst="rect">
            <a:avLst/>
          </a:prstGeom>
          <a:noFill/>
        </p:spPr>
        <p:txBody>
          <a:bodyPr wrap="square" anchor="ctr" lIns="73152" rIns="73152" tIns="36576" bIns="36576">
            <a:spAutoFit/>
          </a:bodyPr>
          <a:lstStyle/>
          <a:p>
            <a:pPr algn="ctr">
              <a:spcAft>
                <a:spcPts val="0"/>
              </a:spcAft>
            </a:pPr>
            <a:r>
              <a:rPr sz="3600" b="1">
                <a:solidFill>
                  <a:srgbClr val="000000"/>
                </a:solidFill>
                <a:latin typeface="Noto Sans KR"/>
                <a:ea typeface="Noto Sans KR"/>
                <a:cs typeface="Noto Sans KR"/>
              </a:rPr>
              <a:t>핵심 이슈와 전망</a:t>
            </a:r>
          </a:p>
        </p:txBody>
      </p:sp>
      <p:sp>
        <p:nvSpPr>
          <p:cNvPr id="3" name="Header1"/>
          <p:cNvSpPr/>
          <p:nvPr/>
        </p:nvSpPr>
        <p:spPr>
          <a:xfrm>
            <a:off x="941832" y="1737360"/>
            <a:ext cx="2395728" cy="777240"/>
          </a:xfrm>
          <a:prstGeom prst="round2SameRect">
            <a:avLst>
              <a:gd name="adj1" fmla="val 25000"/>
              <a:gd name="adj2" fmla="val 0"/>
            </a:avLst>
          </a:prstGeom>
          <a:solidFill>
            <a:srgbClr val="FBB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erText1"/>
          <p:cNvSpPr txBox="1"/>
          <p:nvPr/>
        </p:nvSpPr>
        <p:spPr>
          <a:xfrm>
            <a:off x="941832"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실사용 검증</a:t>
            </a:r>
          </a:p>
        </p:txBody>
      </p:sp>
      <p:sp>
        <p:nvSpPr>
          <p:cNvPr id="5" name="Card1"/>
          <p:cNvSpPr/>
          <p:nvPr/>
        </p:nvSpPr>
        <p:spPr>
          <a:xfrm>
            <a:off x="941832"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con"/>
          <p:cNvSpPr/>
          <p:nvPr/>
        </p:nvSpPr>
        <p:spPr>
          <a:xfrm>
            <a:off x="1819655" y="2999232"/>
            <a:ext cx="640080" cy="640080"/>
          </a:xfrm>
          <a:prstGeom prst="diamond">
            <a:avLst/>
          </a:prstGeom>
          <a:noFill/>
          <a:ln w="25400">
            <a:solidFill>
              <a:srgbClr val="FBB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1"/>
          <p:cNvSpPr txBox="1"/>
          <p:nvPr/>
        </p:nvSpPr>
        <p:spPr>
          <a:xfrm>
            <a:off x="987552"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FBB92F"/>
                </a:solidFill>
                <a:latin typeface="Noto Sans KR"/>
                <a:ea typeface="Noto Sans KR"/>
                <a:cs typeface="Noto Sans KR"/>
              </a:rPr>
              <a:t>점수 ≠ 현실</a:t>
            </a:r>
          </a:p>
        </p:txBody>
      </p:sp>
      <p:sp>
        <p:nvSpPr>
          <p:cNvPr id="8" name="Body1"/>
          <p:cNvSpPr txBox="1"/>
          <p:nvPr/>
        </p:nvSpPr>
        <p:spPr>
          <a:xfrm>
            <a:off x="987552"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벤치마크보다</a:t>
            </a:r>
          </a:p>
          <a:p>
            <a:pPr algn="ctr">
              <a:spcAft>
                <a:spcPts val="0"/>
              </a:spcAft>
            </a:pPr>
            <a:r>
              <a:rPr sz="1600" b="0">
                <a:solidFill>
                  <a:srgbClr val="000000"/>
                </a:solidFill>
                <a:latin typeface="Roboto"/>
                <a:ea typeface="Noto Sans KR"/>
                <a:cs typeface="Noto Sans KR"/>
              </a:rPr>
              <a:t>실제 환경 검증이 중요</a:t>
            </a:r>
          </a:p>
        </p:txBody>
      </p:sp>
      <p:sp>
        <p:nvSpPr>
          <p:cNvPr id="9" name="Header2"/>
          <p:cNvSpPr/>
          <p:nvPr/>
        </p:nvSpPr>
        <p:spPr>
          <a:xfrm>
            <a:off x="3584448" y="1737360"/>
            <a:ext cx="2395728" cy="777240"/>
          </a:xfrm>
          <a:prstGeom prst="round2SameRect">
            <a:avLst>
              <a:gd name="adj1" fmla="val 25000"/>
              <a:gd name="adj2" fmla="val 0"/>
            </a:avLst>
          </a:prstGeom>
          <a:solidFill>
            <a:srgbClr val="FB85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eaderText2"/>
          <p:cNvSpPr txBox="1"/>
          <p:nvPr/>
        </p:nvSpPr>
        <p:spPr>
          <a:xfrm>
            <a:off x="3584448"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에이전트 확산</a:t>
            </a:r>
          </a:p>
        </p:txBody>
      </p:sp>
      <p:sp>
        <p:nvSpPr>
          <p:cNvPr id="11" name="Card2"/>
          <p:cNvSpPr/>
          <p:nvPr/>
        </p:nvSpPr>
        <p:spPr>
          <a:xfrm>
            <a:off x="3584448"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con"/>
          <p:cNvSpPr/>
          <p:nvPr/>
        </p:nvSpPr>
        <p:spPr>
          <a:xfrm>
            <a:off x="4462272" y="2999232"/>
            <a:ext cx="640080" cy="640080"/>
          </a:xfrm>
          <a:prstGeom prst="gear6">
            <a:avLst/>
          </a:prstGeom>
          <a:noFill/>
          <a:ln w="25400">
            <a:solidFill>
              <a:srgbClr val="FB85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ub2"/>
          <p:cNvSpPr txBox="1"/>
          <p:nvPr/>
        </p:nvSpPr>
        <p:spPr>
          <a:xfrm>
            <a:off x="3630168"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FB8567"/>
                </a:solidFill>
                <a:latin typeface="Noto Sans KR"/>
                <a:ea typeface="Noto Sans KR"/>
                <a:cs typeface="Noto Sans KR"/>
              </a:rPr>
              <a:t>79% 도입 난관</a:t>
            </a:r>
          </a:p>
        </p:txBody>
      </p:sp>
      <p:sp>
        <p:nvSpPr>
          <p:cNvPr id="14" name="Body2"/>
          <p:cNvSpPr txBox="1"/>
          <p:nvPr/>
        </p:nvSpPr>
        <p:spPr>
          <a:xfrm>
            <a:off x="3630168"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병목은 거버넌스와</a:t>
            </a:r>
          </a:p>
          <a:p>
            <a:pPr algn="ctr">
              <a:spcAft>
                <a:spcPts val="0"/>
              </a:spcAft>
            </a:pPr>
            <a:r>
              <a:rPr sz="1600" b="0">
                <a:solidFill>
                  <a:srgbClr val="000000"/>
                </a:solidFill>
                <a:latin typeface="Roboto"/>
                <a:ea typeface="Noto Sans KR"/>
                <a:cs typeface="Noto Sans KR"/>
              </a:rPr>
              <a:t>변화 관리</a:t>
            </a:r>
          </a:p>
        </p:txBody>
      </p:sp>
      <p:sp>
        <p:nvSpPr>
          <p:cNvPr id="15" name="Header3"/>
          <p:cNvSpPr/>
          <p:nvPr/>
        </p:nvSpPr>
        <p:spPr>
          <a:xfrm>
            <a:off x="6227064" y="1737360"/>
            <a:ext cx="2395728" cy="777240"/>
          </a:xfrm>
          <a:prstGeom prst="round2SameRect">
            <a:avLst>
              <a:gd name="adj1" fmla="val 25000"/>
              <a:gd name="adj2" fmla="val 0"/>
            </a:avLst>
          </a:prstGeom>
          <a:solidFill>
            <a:srgbClr val="FB5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eaderText3"/>
          <p:cNvSpPr txBox="1"/>
          <p:nvPr/>
        </p:nvSpPr>
        <p:spPr>
          <a:xfrm>
            <a:off x="6227064"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혜택 편중</a:t>
            </a:r>
          </a:p>
        </p:txBody>
      </p:sp>
      <p:sp>
        <p:nvSpPr>
          <p:cNvPr id="17" name="Card3"/>
          <p:cNvSpPr/>
          <p:nvPr/>
        </p:nvSpPr>
        <p:spPr>
          <a:xfrm>
            <a:off x="6227064"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con"/>
          <p:cNvSpPr/>
          <p:nvPr/>
        </p:nvSpPr>
        <p:spPr>
          <a:xfrm>
            <a:off x="7104888" y="2999232"/>
            <a:ext cx="640080" cy="640080"/>
          </a:xfrm>
          <a:prstGeom prst="triangle">
            <a:avLst/>
          </a:prstGeom>
          <a:noFill/>
          <a:ln w="25400">
            <a:solidFill>
              <a:srgbClr val="FB56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ub3"/>
          <p:cNvSpPr txBox="1"/>
          <p:nvPr/>
        </p:nvSpPr>
        <p:spPr>
          <a:xfrm>
            <a:off x="6272784"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FB569B"/>
                </a:solidFill>
                <a:latin typeface="Noto Sans KR"/>
                <a:ea typeface="Noto Sans KR"/>
                <a:cs typeface="Noto Sans KR"/>
              </a:rPr>
              <a:t>신입층 압박</a:t>
            </a:r>
          </a:p>
        </p:txBody>
      </p:sp>
      <p:sp>
        <p:nvSpPr>
          <p:cNvPr id="20" name="Body3"/>
          <p:cNvSpPr txBox="1"/>
          <p:nvPr/>
        </p:nvSpPr>
        <p:spPr>
          <a:xfrm>
            <a:off x="6272784"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생산성 이익은</a:t>
            </a:r>
          </a:p>
          <a:p>
            <a:pPr algn="ctr">
              <a:spcAft>
                <a:spcPts val="0"/>
              </a:spcAft>
            </a:pPr>
            <a:r>
              <a:rPr sz="1600" b="0">
                <a:solidFill>
                  <a:srgbClr val="000000"/>
                </a:solidFill>
                <a:latin typeface="Roboto"/>
                <a:ea typeface="Noto Sans KR"/>
                <a:cs typeface="Noto Sans KR"/>
              </a:rPr>
              <a:t>선도 기업에 집중</a:t>
            </a:r>
          </a:p>
        </p:txBody>
      </p:sp>
      <p:sp>
        <p:nvSpPr>
          <p:cNvPr id="21" name="Header4"/>
          <p:cNvSpPr/>
          <p:nvPr/>
        </p:nvSpPr>
        <p:spPr>
          <a:xfrm>
            <a:off x="8869680" y="1737360"/>
            <a:ext cx="2395728" cy="777240"/>
          </a:xfrm>
          <a:prstGeom prst="round2SameRect">
            <a:avLst>
              <a:gd name="adj1" fmla="val 25000"/>
              <a:gd name="adj2" fmla="val 0"/>
            </a:avLst>
          </a:prstGeom>
          <a:solidFill>
            <a:srgbClr val="9C2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eaderText4"/>
          <p:cNvSpPr txBox="1"/>
          <p:nvPr/>
        </p:nvSpPr>
        <p:spPr>
          <a:xfrm>
            <a:off x="8869680" y="1737360"/>
            <a:ext cx="2395728" cy="777240"/>
          </a:xfrm>
          <a:prstGeom prst="rect">
            <a:avLst/>
          </a:prstGeom>
          <a:noFill/>
        </p:spPr>
        <p:txBody>
          <a:bodyPr wrap="square" anchor="ctr" lIns="73152" rIns="73152" tIns="36576" bIns="36576">
            <a:spAutoFit/>
          </a:bodyPr>
          <a:lstStyle/>
          <a:p>
            <a:pPr algn="ctr">
              <a:spcAft>
                <a:spcPts val="0"/>
              </a:spcAft>
            </a:pPr>
            <a:r>
              <a:rPr sz="2200" b="1">
                <a:solidFill>
                  <a:srgbClr val="FFFFFF"/>
                </a:solidFill>
                <a:latin typeface="Noto Sans KR"/>
                <a:ea typeface="Noto Sans KR"/>
                <a:cs typeface="Noto Sans KR"/>
              </a:rPr>
              <a:t>물리적 한계</a:t>
            </a:r>
          </a:p>
        </p:txBody>
      </p:sp>
      <p:sp>
        <p:nvSpPr>
          <p:cNvPr id="23" name="Card4"/>
          <p:cNvSpPr/>
          <p:nvPr/>
        </p:nvSpPr>
        <p:spPr>
          <a:xfrm>
            <a:off x="8869680" y="2679192"/>
            <a:ext cx="2395728" cy="3218688"/>
          </a:xfrm>
          <a:prstGeom prst="roundRect">
            <a:avLst>
              <a:gd name="adj" fmla="val 3816"/>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con"/>
          <p:cNvSpPr/>
          <p:nvPr/>
        </p:nvSpPr>
        <p:spPr>
          <a:xfrm>
            <a:off x="9747504" y="2999232"/>
            <a:ext cx="640080" cy="640080"/>
          </a:xfrm>
          <a:prstGeom prst="lightningBolt">
            <a:avLst/>
          </a:prstGeom>
          <a:noFill/>
          <a:ln w="25400">
            <a:solidFill>
              <a:srgbClr val="9C28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ub4"/>
          <p:cNvSpPr txBox="1"/>
          <p:nvPr/>
        </p:nvSpPr>
        <p:spPr>
          <a:xfrm>
            <a:off x="8915400" y="3822191"/>
            <a:ext cx="2304288" cy="502920"/>
          </a:xfrm>
          <a:prstGeom prst="rect">
            <a:avLst/>
          </a:prstGeom>
          <a:noFill/>
        </p:spPr>
        <p:txBody>
          <a:bodyPr wrap="square" anchor="ctr" lIns="73152" rIns="73152" tIns="36576" bIns="36576">
            <a:spAutoFit/>
          </a:bodyPr>
          <a:lstStyle/>
          <a:p>
            <a:pPr algn="ctr">
              <a:spcAft>
                <a:spcPts val="0"/>
              </a:spcAft>
            </a:pPr>
            <a:r>
              <a:rPr sz="2200" b="1">
                <a:solidFill>
                  <a:srgbClr val="9C28B1"/>
                </a:solidFill>
                <a:latin typeface="Noto Sans KR"/>
                <a:ea typeface="Noto Sans KR"/>
                <a:cs typeface="Noto Sans KR"/>
              </a:rPr>
              <a:t>전력·반도체</a:t>
            </a:r>
          </a:p>
        </p:txBody>
      </p:sp>
      <p:sp>
        <p:nvSpPr>
          <p:cNvPr id="26" name="Body4"/>
          <p:cNvSpPr txBox="1"/>
          <p:nvPr/>
        </p:nvSpPr>
        <p:spPr>
          <a:xfrm>
            <a:off x="8915400" y="4416552"/>
            <a:ext cx="2304288" cy="1280160"/>
          </a:xfrm>
          <a:prstGeom prst="rect">
            <a:avLst/>
          </a:prstGeom>
          <a:noFill/>
        </p:spPr>
        <p:txBody>
          <a:bodyPr wrap="square" anchor="t" lIns="73152" rIns="73152" tIns="36576" bIns="36576">
            <a:spAutoFit/>
          </a:bodyPr>
          <a:lstStyle/>
          <a:p>
            <a:pPr algn="ctr">
              <a:spcAft>
                <a:spcPts val="0"/>
              </a:spcAft>
            </a:pPr>
            <a:r>
              <a:rPr sz="1600" b="0">
                <a:solidFill>
                  <a:srgbClr val="000000"/>
                </a:solidFill>
                <a:latin typeface="Roboto"/>
                <a:ea typeface="Noto Sans KR"/>
                <a:cs typeface="Noto Sans KR"/>
              </a:rPr>
              <a:t>2030 데이터센터</a:t>
            </a:r>
          </a:p>
          <a:p>
            <a:pPr algn="ctr">
              <a:spcAft>
                <a:spcPts val="0"/>
              </a:spcAft>
            </a:pPr>
            <a:r>
              <a:rPr sz="1600" b="0">
                <a:solidFill>
                  <a:srgbClr val="000000"/>
                </a:solidFill>
                <a:latin typeface="Roboto"/>
                <a:ea typeface="Noto Sans KR"/>
                <a:cs typeface="Noto Sans KR"/>
              </a:rPr>
              <a:t>전력 945TWh 전망</a:t>
            </a:r>
          </a:p>
        </p:txBody>
      </p:sp>
      <p:sp>
        <p:nvSpPr>
          <p:cNvPr id="27" name="PageNo"/>
          <p:cNvSpPr txBox="1"/>
          <p:nvPr/>
        </p:nvSpPr>
        <p:spPr>
          <a:xfrm>
            <a:off x="10454335" y="6172200"/>
            <a:ext cx="1097280" cy="274320"/>
          </a:xfrm>
          <a:prstGeom prst="rect">
            <a:avLst/>
          </a:prstGeom>
          <a:noFill/>
        </p:spPr>
        <p:txBody>
          <a:bodyPr wrap="square" anchor="t" lIns="73152" rIns="73152" tIns="36576" bIns="36576">
            <a:spAutoFit/>
          </a:bodyPr>
          <a:lstStyle/>
          <a:p>
            <a:pPr algn="r">
              <a:spcAft>
                <a:spcPts val="0"/>
              </a:spcAft>
            </a:pPr>
            <a:r>
              <a:rPr sz="1400" b="0">
                <a:solidFill>
                  <a:srgbClr val="000000"/>
                </a:solidFill>
                <a:latin typeface="Roboto"/>
                <a:ea typeface="Noto Sans KR"/>
                <a:cs typeface="Noto Sans KR"/>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losingTitle"/>
          <p:cNvSpPr txBox="1"/>
          <p:nvPr/>
        </p:nvSpPr>
        <p:spPr>
          <a:xfrm>
            <a:off x="914400" y="2011680"/>
            <a:ext cx="10362895" cy="1097280"/>
          </a:xfrm>
          <a:prstGeom prst="rect">
            <a:avLst/>
          </a:prstGeom>
          <a:noFill/>
        </p:spPr>
        <p:txBody>
          <a:bodyPr wrap="square" anchor="ctr" lIns="73152" rIns="73152" tIns="36576" bIns="36576">
            <a:spAutoFit/>
          </a:bodyPr>
          <a:lstStyle/>
          <a:p>
            <a:pPr algn="ctr">
              <a:spcAft>
                <a:spcPts val="0"/>
              </a:spcAft>
            </a:pPr>
            <a:r>
              <a:rPr sz="5400" b="1">
                <a:solidFill>
                  <a:srgbClr val="000000"/>
                </a:solidFill>
                <a:latin typeface="Noto Sans KR"/>
                <a:ea typeface="Noto Sans KR"/>
                <a:cs typeface="Noto Sans KR"/>
              </a:rPr>
              <a:t>감사합니다</a:t>
            </a:r>
          </a:p>
        </p:txBody>
      </p:sp>
      <p:sp>
        <p:nvSpPr>
          <p:cNvPr id="3" name="ClosingSub"/>
          <p:cNvSpPr txBox="1"/>
          <p:nvPr/>
        </p:nvSpPr>
        <p:spPr>
          <a:xfrm>
            <a:off x="914400" y="3154680"/>
            <a:ext cx="10362895" cy="640080"/>
          </a:xfrm>
          <a:prstGeom prst="rect">
            <a:avLst/>
          </a:prstGeom>
          <a:noFill/>
        </p:spPr>
        <p:txBody>
          <a:bodyPr wrap="square" anchor="ctr" lIns="73152" rIns="73152" tIns="36576" bIns="36576">
            <a:spAutoFit/>
          </a:bodyPr>
          <a:lstStyle/>
          <a:p>
            <a:pPr algn="ctr">
              <a:spcAft>
                <a:spcPts val="0"/>
              </a:spcAft>
            </a:pPr>
            <a:r>
              <a:rPr sz="2600" b="1">
                <a:solidFill>
                  <a:srgbClr val="FBB92F"/>
                </a:solidFill>
                <a:latin typeface="Noto Sans KR"/>
                <a:ea typeface="Noto Sans KR"/>
                <a:cs typeface="Noto Sans KR"/>
              </a:rPr>
              <a:t>질의응답 · Q&amp;A</a:t>
            </a:r>
          </a:p>
        </p:txBody>
      </p:sp>
      <p:sp>
        <p:nvSpPr>
          <p:cNvPr id="4" name="Deco1"/>
          <p:cNvSpPr/>
          <p:nvPr/>
        </p:nvSpPr>
        <p:spPr>
          <a:xfrm>
            <a:off x="4792827" y="4114800"/>
            <a:ext cx="548640" cy="128016"/>
          </a:xfrm>
          <a:prstGeom prst="roundRect">
            <a:avLst>
              <a:gd name="adj" fmla="val 50000"/>
            </a:avLst>
          </a:prstGeom>
          <a:solidFill>
            <a:srgbClr val="FBB9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co2"/>
          <p:cNvSpPr/>
          <p:nvPr/>
        </p:nvSpPr>
        <p:spPr>
          <a:xfrm>
            <a:off x="5478627" y="4114800"/>
            <a:ext cx="548640" cy="128016"/>
          </a:xfrm>
          <a:prstGeom prst="roundRect">
            <a:avLst>
              <a:gd name="adj" fmla="val 50000"/>
            </a:avLst>
          </a:prstGeom>
          <a:solidFill>
            <a:srgbClr val="FB85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co3"/>
          <p:cNvSpPr/>
          <p:nvPr/>
        </p:nvSpPr>
        <p:spPr>
          <a:xfrm>
            <a:off x="6164427" y="4114800"/>
            <a:ext cx="548640" cy="128016"/>
          </a:xfrm>
          <a:prstGeom prst="roundRect">
            <a:avLst>
              <a:gd name="adj" fmla="val 50000"/>
            </a:avLst>
          </a:prstGeom>
          <a:solidFill>
            <a:srgbClr val="FB5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o4"/>
          <p:cNvSpPr/>
          <p:nvPr/>
        </p:nvSpPr>
        <p:spPr>
          <a:xfrm>
            <a:off x="6850227" y="4114800"/>
            <a:ext cx="548640" cy="128016"/>
          </a:xfrm>
          <a:prstGeom prst="roundRect">
            <a:avLst>
              <a:gd name="adj" fmla="val 50000"/>
            </a:avLst>
          </a:prstGeom>
          <a:solidFill>
            <a:srgbClr val="9C2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losingSource"/>
          <p:cNvSpPr txBox="1"/>
          <p:nvPr/>
        </p:nvSpPr>
        <p:spPr>
          <a:xfrm>
            <a:off x="914400" y="5120640"/>
            <a:ext cx="10362895" cy="411480"/>
          </a:xfrm>
          <a:prstGeom prst="rect">
            <a:avLst/>
          </a:prstGeom>
          <a:noFill/>
        </p:spPr>
        <p:txBody>
          <a:bodyPr wrap="square" anchor="t" lIns="73152" rIns="73152" tIns="36576" bIns="36576">
            <a:spAutoFit/>
          </a:bodyPr>
          <a:lstStyle/>
          <a:p>
            <a:pPr algn="ctr">
              <a:spcAft>
                <a:spcPts val="0"/>
              </a:spcAft>
            </a:pPr>
            <a:r>
              <a:rPr sz="1400" b="0">
                <a:solidFill>
                  <a:srgbClr val="000000"/>
                </a:solidFill>
                <a:latin typeface="Roboto"/>
                <a:ea typeface="Noto Sans KR"/>
                <a:cs typeface="Noto Sans KR"/>
              </a:rPr>
              <a:t>자료 출처 전체 목록: research/ai-development-research-v2.md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