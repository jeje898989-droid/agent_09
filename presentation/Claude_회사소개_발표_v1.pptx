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오늘은 AI 어시스턴트 Claude를 개발한 회사 Anthropic을 소개합니다. 회사 개요, 미션과 안전 철학, 제품군 순서로 설명드리겠습니다.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Anthropic은 2021년 OpenAI 출신 연구자들이 세운 AI 안전·연구 회사입니다. 이윤만이 아니라 공익 목적을 정관에 명시한 공익법인 형태라는 점이 특징입니다.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Anthropic의 핵심 미션은 안전하고 신뢰할 수 있는 AI입니다. Constitutional AI와 해석 가능성 연구로 모델을 이해하고 통제하며, 책임 있는 확장 정책으로 모델 능력이 커질수록 더 강한 안전 기준을 적용합니다.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Claude는 용도에 따라 여러 등급의 모델로 제공됩니다. 일반 사용자는 Claude 앱으로, 개발자는 Claude Code와 API로 Claude를 활용할 수 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정리하면, Anthropic은 안전 연구와 실제 제품을 함께 발전시키는 회사입니다. 질문 있으시면 받겠습니다. 감사합니다.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sz="4000" b="1">
                <a:solidFill>
                  <a:srgbClr val="E8730C"/>
                </a:solidFill>
                <a:latin typeface="맑은 고딕"/>
                <a:ea typeface="맑은 고딕"/>
              </a:rPr>
              <a:t>Anthropic: Claude를 만드는 회사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/>
            <a:r>
              <a:rPr sz="2000" b="0">
                <a:solidFill>
                  <a:srgbClr val="7F7F7F"/>
                </a:solidFill>
                <a:latin typeface="맑은 고딕"/>
                <a:ea typeface="맑은 고딕"/>
              </a:rPr>
              <a:t>회사 소개 · 2026년 10월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E8730C"/>
                </a:solidFill>
                <a:latin typeface="맑은 고딕"/>
                <a:ea typeface="맑은 고딕"/>
              </a:rPr>
              <a:t>회사 개요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0080" y="1463040"/>
            <a:ext cx="10911535" cy="4846320"/>
          </a:xfrm>
        </p:spPr>
        <p:txBody>
          <a:bodyPr wrap="square"/>
          <a:lstStyle/>
          <a:p>
            <a:pPr>
              <a:spcAft>
                <a:spcPts val="600"/>
              </a:spcAft>
            </a:pPr>
            <a:r>
              <a:rPr sz="2000">
                <a:solidFill>
                  <a:srgbClr val="262626"/>
                </a:solidFill>
                <a:latin typeface="맑은 고딕"/>
                <a:ea typeface="맑은 고딕"/>
              </a:rPr>
              <a:t>설립: 2021년, 미국 샌프란시스코 본사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262626"/>
                </a:solidFill>
                <a:latin typeface="맑은 고딕"/>
                <a:ea typeface="맑은 고딕"/>
              </a:rPr>
              <a:t>창업: 다리오·다니엘라 아모데이 남매 등 전 OpenAI 연구진</a:t>
            </a:r>
          </a:p>
          <a:p>
            <a:pPr lvl="1">
              <a:spcAft>
                <a:spcPts val="600"/>
              </a:spcAft>
            </a:pPr>
            <a:r>
              <a:rPr sz="1800">
                <a:solidFill>
                  <a:srgbClr val="262626"/>
                </a:solidFill>
                <a:latin typeface="맑은 고딕"/>
                <a:ea typeface="맑은 고딕"/>
              </a:rPr>
              <a:t>CEO 다리오 아모데이, 사장 다니엘라 아모데이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262626"/>
                </a:solidFill>
                <a:latin typeface="맑은 고딕"/>
                <a:ea typeface="맑은 고딕"/>
              </a:rPr>
              <a:t>형태: 공익법인(Public Benefit Corporation)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262626"/>
                </a:solidFill>
                <a:latin typeface="맑은 고딕"/>
                <a:ea typeface="맑은 고딕"/>
              </a:rPr>
              <a:t>목적: 인류의 장기적 이익을 위한 책임 있는 첨단 AI 개발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262626"/>
                </a:solidFill>
                <a:latin typeface="맑은 고딕"/>
                <a:ea typeface="맑은 고딕"/>
              </a:rPr>
              <a:t>거점: 샌프란시스코, 런던, 뉴욕 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28655" y="640080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7F7F7F"/>
                </a:solidFill>
                <a:latin typeface="맑은 고딕"/>
                <a:ea typeface="맑은 고딕"/>
              </a:rPr>
              <a:t>2 / 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E8730C"/>
                </a:solidFill>
                <a:latin typeface="맑은 고딕"/>
                <a:ea typeface="맑은 고딕"/>
              </a:rPr>
              <a:t>미션과 안전 철학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463040"/>
            <a:ext cx="5272887" cy="4572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맑은 고딕"/>
                <a:ea typeface="맑은 고딕"/>
              </a:rPr>
              <a:t>안전 연구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011680"/>
            <a:ext cx="5272887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>
                <a:solidFill>
                  <a:srgbClr val="262626"/>
                </a:solidFill>
                <a:latin typeface="맑은 고딕"/>
                <a:ea typeface="맑은 고딕"/>
              </a:rPr>
              <a:t>Constitutional AI: 원칙(헌법)으로 모델 학습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262626"/>
                </a:solidFill>
                <a:latin typeface="맑은 고딕"/>
                <a:ea typeface="맑은 고딕"/>
              </a:rPr>
              <a:t>해석 가능성 연구: 모델 내부 작동 분석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262626"/>
                </a:solidFill>
                <a:latin typeface="맑은 고딕"/>
                <a:ea typeface="맑은 고딕"/>
              </a:rPr>
              <a:t>정렬(Alignment) 및 위험 평가 연구</a:t>
            </a:r>
          </a:p>
        </p:txBody>
      </p:sp>
      <p:sp>
        <p:nvSpPr>
          <p:cNvPr id="5" name="Rectangle 4"/>
          <p:cNvSpPr/>
          <p:nvPr/>
        </p:nvSpPr>
        <p:spPr>
          <a:xfrm>
            <a:off x="6278727" y="1463040"/>
            <a:ext cx="5272887" cy="4572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맑은 고딕"/>
                <a:ea typeface="맑은 고딕"/>
              </a:rPr>
              <a:t>책임 있는 운영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78727" y="2011680"/>
            <a:ext cx="5272887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>
                <a:solidFill>
                  <a:srgbClr val="262626"/>
                </a:solidFill>
                <a:latin typeface="맑은 고딕"/>
                <a:ea typeface="맑은 고딕"/>
              </a:rPr>
              <a:t>책임 있는 확장 정책(RSP)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262626"/>
                </a:solidFill>
                <a:latin typeface="맑은 고딕"/>
                <a:ea typeface="맑은 고딕"/>
              </a:rPr>
              <a:t>능력 수준별 안전 기준 단계 적용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262626"/>
                </a:solidFill>
                <a:latin typeface="맑은 고딕"/>
                <a:ea typeface="맑은 고딕"/>
              </a:rPr>
              <a:t>연구 결과와 정책을 외부에 공개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8655" y="640080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7F7F7F"/>
                </a:solidFill>
                <a:latin typeface="맑은 고딕"/>
                <a:ea typeface="맑은 고딕"/>
              </a:rPr>
              <a:t>3 / 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E8730C"/>
                </a:solidFill>
                <a:latin typeface="맑은 고딕"/>
                <a:ea typeface="맑은 고딕"/>
              </a:rPr>
              <a:t>Claude 제품군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40080" y="1463040"/>
          <a:ext cx="10911535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11910"/>
                <a:gridCol w="2815880"/>
                <a:gridCol w="5983745"/>
              </a:tblGrid>
              <a:tr h="41148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구분</a:t>
                      </a:r>
                    </a:p>
                  </a:txBody>
                  <a:tcPr anchor="ctr">
                    <a:solidFill>
                      <a:srgbClr val="E8730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제품</a:t>
                      </a:r>
                    </a:p>
                  </a:txBody>
                  <a:tcPr anchor="ctr">
                    <a:solidFill>
                      <a:srgbClr val="E8730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특징</a:t>
                      </a:r>
                    </a:p>
                  </a:txBody>
                  <a:tcPr anchor="ctr">
                    <a:solidFill>
                      <a:srgbClr val="E8730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모델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Fable · Opus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최고 성능, 복잡한 추론·장기 작업</a:t>
                      </a:r>
                    </a:p>
                  </a:txBody>
                  <a:tcPr anchor="ctr"/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모델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Sonnet · Haiku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성능과 속도·비용의 균형 / 경량·고속</a:t>
                      </a:r>
                    </a:p>
                  </a:txBody>
                  <a:tcPr anchor="ctr"/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서비스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Claude 앱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웹·데스크톱·모바일 AI 어시스턴트</a:t>
                      </a:r>
                    </a:p>
                  </a:txBody>
                  <a:tcPr anchor="ctr"/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개발 도구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Claude Code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터미널·IDE에서 코딩을 돕는 에이전트</a:t>
                      </a:r>
                    </a:p>
                  </a:txBody>
                  <a:tcPr anchor="ctr"/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플랫폼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Claude API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기업·개발자용 모델 연동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10728655" y="640080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7F7F7F"/>
                </a:solidFill>
                <a:latin typeface="맑은 고딕"/>
                <a:ea typeface="맑은 고딕"/>
              </a:rPr>
              <a:t>4 / 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E8730C"/>
                </a:solidFill>
                <a:latin typeface="맑은 고딕"/>
                <a:ea typeface="맑은 고딕"/>
              </a:rPr>
              <a:t>요약 및 마무리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0080" y="1463040"/>
            <a:ext cx="10911535" cy="4846320"/>
          </a:xfrm>
        </p:spPr>
        <p:txBody>
          <a:bodyPr wrap="square"/>
          <a:lstStyle/>
          <a:p>
            <a:pPr>
              <a:spcAft>
                <a:spcPts val="600"/>
              </a:spcAft>
            </a:pPr>
            <a:r>
              <a:rPr sz="2000">
                <a:solidFill>
                  <a:srgbClr val="262626"/>
                </a:solidFill>
                <a:latin typeface="맑은 고딕"/>
                <a:ea typeface="맑은 고딕"/>
              </a:rPr>
              <a:t>Anthropic은 '안전한 AI'를 미션으로 하는 공익법인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262626"/>
                </a:solidFill>
                <a:latin typeface="맑은 고딕"/>
                <a:ea typeface="맑은 고딕"/>
              </a:rPr>
              <a:t>Constitutional AI·해석 가능성 등 안전 연구를 선도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262626"/>
                </a:solidFill>
                <a:latin typeface="맑은 고딕"/>
                <a:ea typeface="맑은 고딕"/>
              </a:rPr>
              <a:t>Claude 모델군과 앱·Claude Code·API로 폭넓게 제공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262626"/>
                </a:solidFill>
                <a:latin typeface="맑은 고딕"/>
                <a:ea typeface="맑은 고딕"/>
              </a:rPr>
              <a:t>안전과 유용성을 함께 추구하는 AI 회사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28655" y="640080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7F7F7F"/>
                </a:solidFill>
                <a:latin typeface="맑은 고딕"/>
                <a:ea typeface="맑은 고딕"/>
              </a:rPr>
              <a:t>5 / 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